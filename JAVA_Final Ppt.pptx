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74" r:id="rId6"/>
    <p:sldId id="278" r:id="rId7"/>
    <p:sldId id="280" r:id="rId8"/>
    <p:sldId id="283" r:id="rId9"/>
    <p:sldId id="286" r:id="rId10"/>
    <p:sldId id="285" r:id="rId11"/>
    <p:sldId id="271" r:id="rId12"/>
    <p:sldId id="281" r:id="rId13"/>
    <p:sldId id="287" r:id="rId14"/>
    <p:sldId id="289" r:id="rId15"/>
    <p:sldId id="292" r:id="rId16"/>
    <p:sldId id="293" r:id="rId17"/>
    <p:sldId id="288" r:id="rId18"/>
    <p:sldId id="290" r:id="rId19"/>
    <p:sldId id="291" r:id="rId20"/>
    <p:sldId id="268" r:id="rId21"/>
    <p:sldId id="269" r:id="rId22"/>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varScale="1">
        <p:scale>
          <a:sx n="76" d="100"/>
          <a:sy n="76" d="100"/>
        </p:scale>
        <p:origin x="1718"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06-04-2026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A07A5-14C6-E585-8655-9D9D52E50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A451EA-1440-E913-BE4A-B614B423C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B861F-0E31-A9FE-3DE3-C88AA9FDC23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BB3FD6E-6CD7-73E7-5843-F5D2AC9D0C79}"/>
              </a:ext>
            </a:extLst>
          </p:cNvPr>
          <p:cNvSpPr>
            <a:spLocks noGrp="1"/>
          </p:cNvSpPr>
          <p:nvPr>
            <p:ph type="sldNum" sz="quarter" idx="10"/>
          </p:nvPr>
        </p:nvSpPr>
        <p:spPr/>
        <p:txBody>
          <a:bodyPr/>
          <a:lstStyle/>
          <a:p>
            <a:fld id="{67E471F2-2083-493A-8C9E-53209FFA1EC8}" type="slidenum">
              <a:rPr lang="en-IN" smtClean="0"/>
              <a:t>7</a:t>
            </a:fld>
            <a:endParaRPr lang="en-IN"/>
          </a:p>
        </p:txBody>
      </p:sp>
    </p:spTree>
    <p:extLst>
      <p:ext uri="{BB962C8B-B14F-4D97-AF65-F5344CB8AC3E}">
        <p14:creationId xmlns:p14="http://schemas.microsoft.com/office/powerpoint/2010/main" val="3766118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D6944-C75D-642A-33EC-861C4C9EE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92471-DA30-4B37-FCA6-6EF20124DB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FE530-0FC2-EC25-4907-8124FE661A5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03AE0AE-6066-70F2-58D0-DE497EDE96FC}"/>
              </a:ext>
            </a:extLst>
          </p:cNvPr>
          <p:cNvSpPr>
            <a:spLocks noGrp="1"/>
          </p:cNvSpPr>
          <p:nvPr>
            <p:ph type="sldNum" sz="quarter" idx="10"/>
          </p:nvPr>
        </p:nvSpPr>
        <p:spPr/>
        <p:txBody>
          <a:bodyPr/>
          <a:lstStyle/>
          <a:p>
            <a:fld id="{67E471F2-2083-493A-8C9E-53209FFA1EC8}" type="slidenum">
              <a:rPr lang="en-IN" smtClean="0"/>
              <a:t>8</a:t>
            </a:fld>
            <a:endParaRPr lang="en-IN"/>
          </a:p>
        </p:txBody>
      </p:sp>
    </p:spTree>
    <p:extLst>
      <p:ext uri="{BB962C8B-B14F-4D97-AF65-F5344CB8AC3E}">
        <p14:creationId xmlns:p14="http://schemas.microsoft.com/office/powerpoint/2010/main" val="3637059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139B1-A475-4CBB-3C79-9D26E5A86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C7ED2-D36F-F380-B914-E293551BC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291147-730F-8489-F314-EBBEE6FC15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B461C2B-CF90-5661-FD6B-4743F3CA884B}"/>
              </a:ext>
            </a:extLst>
          </p:cNvPr>
          <p:cNvSpPr>
            <a:spLocks noGrp="1"/>
          </p:cNvSpPr>
          <p:nvPr>
            <p:ph type="sldNum" sz="quarter" idx="10"/>
          </p:nvPr>
        </p:nvSpPr>
        <p:spPr/>
        <p:txBody>
          <a:bodyPr/>
          <a:lstStyle/>
          <a:p>
            <a:fld id="{67E471F2-2083-493A-8C9E-53209FFA1EC8}" type="slidenum">
              <a:rPr lang="en-IN" smtClean="0"/>
              <a:t>9</a:t>
            </a:fld>
            <a:endParaRPr lang="en-IN"/>
          </a:p>
        </p:txBody>
      </p:sp>
    </p:spTree>
    <p:extLst>
      <p:ext uri="{BB962C8B-B14F-4D97-AF65-F5344CB8AC3E}">
        <p14:creationId xmlns:p14="http://schemas.microsoft.com/office/powerpoint/2010/main" val="1688220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C70F2-0EF9-0550-A72E-404207C35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00AA8-577A-B5F3-39C0-0D9C6D252B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2C486-2F3A-630C-86E2-8D8A883F7AE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50BFAA6-56A9-3BDB-EAC1-346BC26C210F}"/>
              </a:ext>
            </a:extLst>
          </p:cNvPr>
          <p:cNvSpPr>
            <a:spLocks noGrp="1"/>
          </p:cNvSpPr>
          <p:nvPr>
            <p:ph type="sldNum" sz="quarter" idx="10"/>
          </p:nvPr>
        </p:nvSpPr>
        <p:spPr/>
        <p:txBody>
          <a:bodyPr/>
          <a:lstStyle/>
          <a:p>
            <a:fld id="{67E471F2-2083-493A-8C9E-53209FFA1EC8}" type="slidenum">
              <a:rPr lang="en-IN" smtClean="0"/>
              <a:t>10</a:t>
            </a:fld>
            <a:endParaRPr lang="en-IN"/>
          </a:p>
        </p:txBody>
      </p:sp>
    </p:spTree>
    <p:extLst>
      <p:ext uri="{BB962C8B-B14F-4D97-AF65-F5344CB8AC3E}">
        <p14:creationId xmlns:p14="http://schemas.microsoft.com/office/powerpoint/2010/main" val="1643100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t>11</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CE3C7-4CAC-83C5-06C3-42A79AAC3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8F73F-5430-C4C7-24B7-978CB7B2CD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D4E0F-8063-6714-0B2B-C4C7BFB3BB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6220EE7-BED2-805A-A166-2B514D3FD98E}"/>
              </a:ext>
            </a:extLst>
          </p:cNvPr>
          <p:cNvSpPr>
            <a:spLocks noGrp="1"/>
          </p:cNvSpPr>
          <p:nvPr>
            <p:ph type="sldNum" sz="quarter" idx="10"/>
          </p:nvPr>
        </p:nvSpPr>
        <p:spPr/>
        <p:txBody>
          <a:bodyPr/>
          <a:lstStyle/>
          <a:p>
            <a:fld id="{67E471F2-2083-493A-8C9E-53209FFA1EC8}" type="slidenum">
              <a:rPr lang="en-IN" smtClean="0"/>
              <a:t>12</a:t>
            </a:fld>
            <a:endParaRPr lang="en-IN"/>
          </a:p>
        </p:txBody>
      </p:sp>
    </p:spTree>
    <p:extLst>
      <p:ext uri="{BB962C8B-B14F-4D97-AF65-F5344CB8AC3E}">
        <p14:creationId xmlns:p14="http://schemas.microsoft.com/office/powerpoint/2010/main" val="340130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565D4-DEED-8F77-7875-441F7EC65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20EE74-7167-873A-95DE-2209D38A4B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CB17A6-C5DF-DF2F-3449-59AE0E1E523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2A6B2E7-A9E4-7C60-5E8B-7C360EA4C31A}"/>
              </a:ext>
            </a:extLst>
          </p:cNvPr>
          <p:cNvSpPr>
            <a:spLocks noGrp="1"/>
          </p:cNvSpPr>
          <p:nvPr>
            <p:ph type="sldNum" sz="quarter" idx="10"/>
          </p:nvPr>
        </p:nvSpPr>
        <p:spPr/>
        <p:txBody>
          <a:bodyPr/>
          <a:lstStyle/>
          <a:p>
            <a:fld id="{67E471F2-2083-493A-8C9E-53209FFA1EC8}" type="slidenum">
              <a:rPr lang="en-IN" smtClean="0"/>
              <a:t>13</a:t>
            </a:fld>
            <a:endParaRPr lang="en-IN"/>
          </a:p>
        </p:txBody>
      </p:sp>
    </p:spTree>
    <p:extLst>
      <p:ext uri="{BB962C8B-B14F-4D97-AF65-F5344CB8AC3E}">
        <p14:creationId xmlns:p14="http://schemas.microsoft.com/office/powerpoint/2010/main" val="11321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78334-1E7C-9B5D-22F4-8A0874D2C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A05E5-57D3-9020-E1E8-13EECF182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E5D61-29D8-36CA-3B49-ED30EB6DC9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6A6CBA9-998B-04E1-4DEE-A9C50489770F}"/>
              </a:ext>
            </a:extLst>
          </p:cNvPr>
          <p:cNvSpPr>
            <a:spLocks noGrp="1"/>
          </p:cNvSpPr>
          <p:nvPr>
            <p:ph type="sldNum" sz="quarter" idx="10"/>
          </p:nvPr>
        </p:nvSpPr>
        <p:spPr/>
        <p:txBody>
          <a:bodyPr/>
          <a:lstStyle/>
          <a:p>
            <a:fld id="{67E471F2-2083-493A-8C9E-53209FFA1EC8}" type="slidenum">
              <a:rPr lang="en-IN" smtClean="0"/>
              <a:t>14</a:t>
            </a:fld>
            <a:endParaRPr lang="en-IN"/>
          </a:p>
        </p:txBody>
      </p:sp>
    </p:spTree>
    <p:extLst>
      <p:ext uri="{BB962C8B-B14F-4D97-AF65-F5344CB8AC3E}">
        <p14:creationId xmlns:p14="http://schemas.microsoft.com/office/powerpoint/2010/main" val="37506980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0228F-58ED-A8A9-83F6-417BF9E8F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092AC-450B-ED20-CC0E-863B8D3FB2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5D67FF-E9BF-B02A-BB9A-F8D92EE150D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648B14A-9DA2-06A7-BD4E-CC42A4DF4C5A}"/>
              </a:ext>
            </a:extLst>
          </p:cNvPr>
          <p:cNvSpPr>
            <a:spLocks noGrp="1"/>
          </p:cNvSpPr>
          <p:nvPr>
            <p:ph type="sldNum" sz="quarter" idx="10"/>
          </p:nvPr>
        </p:nvSpPr>
        <p:spPr/>
        <p:txBody>
          <a:bodyPr/>
          <a:lstStyle/>
          <a:p>
            <a:fld id="{67E471F2-2083-493A-8C9E-53209FFA1EC8}" type="slidenum">
              <a:rPr lang="en-IN" smtClean="0"/>
              <a:t>17</a:t>
            </a:fld>
            <a:endParaRPr lang="en-IN"/>
          </a:p>
        </p:txBody>
      </p:sp>
    </p:spTree>
    <p:extLst>
      <p:ext uri="{BB962C8B-B14F-4D97-AF65-F5344CB8AC3E}">
        <p14:creationId xmlns:p14="http://schemas.microsoft.com/office/powerpoint/2010/main" val="918734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4/6/2026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1.xml"/><Relationship Id="rId6" Type="http://schemas.openxmlformats.org/officeDocument/2006/relationships/image" Target="../media/image13.jpeg"/><Relationship Id="rId5"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hyperlink" Target="https://docs.oracle.com/javase" TargetMode="External"/><Relationship Id="rId7" Type="http://schemas.openxmlformats.org/officeDocument/2006/relationships/image" Target="../media/image8.png"/><Relationship Id="rId2" Type="http://schemas.openxmlformats.org/officeDocument/2006/relationships/hyperlink" Target="https://docs.oracle.com/" TargetMode="Externa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hyperlink" Target="https://www.w3schools.com/java/"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Java Programming Cornerstone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Final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3384260"/>
          </a:xfrm>
          <a:prstGeom prst="rect">
            <a:avLst/>
          </a:prstGeom>
        </p:spPr>
        <p:txBody>
          <a:bodyPr vert="horz" wrap="square" lIns="0" tIns="16510" rIns="0" bIns="0" rtlCol="0">
            <a:spAutoFit/>
          </a:bodyPr>
          <a:lstStyle/>
          <a:p>
            <a:pPr algn="ctr">
              <a:lnSpc>
                <a:spcPct val="100000"/>
              </a:lnSpc>
              <a:spcBef>
                <a:spcPts val="130"/>
              </a:spcBef>
            </a:pPr>
            <a:r>
              <a:rPr lang="en-IN" dirty="0">
                <a:solidFill>
                  <a:schemeClr val="tx2"/>
                </a:solidFill>
                <a:latin typeface="Times New Roman" panose="02020603050405020304" pitchFamily="18" charset="0"/>
                <a:cs typeface="Times New Roman" panose="02020603050405020304" pitchFamily="18" charset="0"/>
              </a:rPr>
              <a:t>BUS TICKET BOOKING SYSTEM</a:t>
            </a:r>
          </a:p>
          <a:p>
            <a:pPr algn="ctr">
              <a:lnSpc>
                <a:spcPct val="100000"/>
              </a:lnSpc>
              <a:spcBef>
                <a:spcPts val="130"/>
              </a:spcBef>
            </a:pPr>
            <a:endParaRPr lang="en-IN" dirty="0">
              <a:solidFill>
                <a:schemeClr val="tx2"/>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1800" spc="-10" dirty="0">
                <a:solidFill>
                  <a:srgbClr val="17375E"/>
                </a:solidFill>
                <a:latin typeface="Times New Roman" panose="02020603050405020304" pitchFamily="18" charset="0"/>
                <a:cs typeface="Times New Roman" panose="02020603050405020304" pitchFamily="18" charset="0"/>
              </a:rPr>
              <a:t>V D A ANUSHA (24B11DS220)</a:t>
            </a:r>
          </a:p>
          <a:p>
            <a:pPr marL="3810" algn="ctr">
              <a:lnSpc>
                <a:spcPct val="100000"/>
              </a:lnSpc>
              <a:spcBef>
                <a:spcPts val="750"/>
              </a:spcBef>
            </a:pPr>
            <a:r>
              <a:rPr lang="en-IN" sz="1800" spc="-10" dirty="0">
                <a:solidFill>
                  <a:srgbClr val="17375E"/>
                </a:solidFill>
                <a:latin typeface="Times New Roman" panose="02020603050405020304" pitchFamily="18" charset="0"/>
                <a:cs typeface="Times New Roman" panose="02020603050405020304" pitchFamily="18" charset="0"/>
              </a:rPr>
              <a:t>K S R VIKRANTH (24B11DS232)</a:t>
            </a:r>
          </a:p>
          <a:p>
            <a:pPr marL="3810" algn="ctr">
              <a:lnSpc>
                <a:spcPct val="100000"/>
              </a:lnSpc>
              <a:spcBef>
                <a:spcPts val="750"/>
              </a:spcBef>
            </a:pPr>
            <a:r>
              <a:rPr lang="en-IN" sz="1800" spc="-10" dirty="0">
                <a:solidFill>
                  <a:srgbClr val="17375E"/>
                </a:solidFill>
                <a:latin typeface="Times New Roman" panose="02020603050405020304" pitchFamily="18" charset="0"/>
                <a:cs typeface="Times New Roman" panose="02020603050405020304" pitchFamily="18" charset="0"/>
              </a:rPr>
              <a:t>P YESHWANTH REDDY (24B11DS163)</a:t>
            </a:r>
          </a:p>
          <a:p>
            <a:pPr marL="3810" algn="ctr">
              <a:lnSpc>
                <a:spcPct val="100000"/>
              </a:lnSpc>
              <a:spcBef>
                <a:spcPts val="750"/>
              </a:spcBef>
            </a:pPr>
            <a:r>
              <a:rPr lang="en-IN" sz="1800" spc="-10" dirty="0">
                <a:solidFill>
                  <a:srgbClr val="17375E"/>
                </a:solidFill>
                <a:latin typeface="Times New Roman" panose="02020603050405020304" pitchFamily="18" charset="0"/>
                <a:cs typeface="Times New Roman" panose="02020603050405020304" pitchFamily="18" charset="0"/>
              </a:rPr>
              <a:t>P SANDEEP KUMAR (24B11DS158)</a:t>
            </a: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Data Science</a:t>
            </a: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60408" y="1191211"/>
            <a:ext cx="3770980" cy="5495094"/>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Analysis</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Database Design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Design</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System Implementation</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Future Enhancements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References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id="{F71F55BA-986F-654A-5E2D-6EB3BA46572D}"/>
              </a:ext>
            </a:extLst>
          </p:cNvPr>
          <p:cNvSpPr txBox="1"/>
          <p:nvPr/>
        </p:nvSpPr>
        <p:spPr>
          <a:xfrm>
            <a:off x="723900" y="1185265"/>
            <a:ext cx="8610600" cy="5028556"/>
          </a:xfrm>
          <a:prstGeom prst="rect">
            <a:avLst/>
          </a:prstGeom>
          <a:noFill/>
        </p:spPr>
        <p:txBody>
          <a:bodyPr wrap="square" rtlCol="0">
            <a:spAutoFit/>
          </a:bodyPr>
          <a:lstStyle/>
          <a:p>
            <a:pPr marL="285750" indent="-285750" algn="l">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Bus Ticket Booking System (BTBS)</a:t>
            </a:r>
            <a:r>
              <a:rPr lang="en-US" dirty="0">
                <a:latin typeface="Times New Roman" panose="02020603050405020304" pitchFamily="18" charset="0"/>
                <a:cs typeface="Times New Roman" panose="02020603050405020304" pitchFamily="18" charset="0"/>
              </a:rPr>
              <a:t> is a Java-based application designed to manage bus reservations and passenger information efficiently.</a:t>
            </a:r>
          </a:p>
          <a:p>
            <a:pPr marL="285750" indent="-285750" algn="l">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l">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provides functionalities such as booking tickets, canceling reservations, searching for available buses, and viewing booking details, thereby reducing manual effort and errors.</a:t>
            </a:r>
          </a:p>
          <a:p>
            <a:pPr marL="285750" indent="-285750" algn="l">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l">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BTBS aims to improve accuracy, accessibility, and convenience for both passengers and administrators by using a structured and centralized approach.</a:t>
            </a:r>
          </a:p>
          <a:p>
            <a:pPr marL="285750" indent="-285750" algn="l">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l">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application will be developed using core Java concepts along with database connectivity to ensure secure and persistent data storage.</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INTRODUCTION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25851B59-AD5A-81AD-7D42-C1CD5E589B58}"/>
              </a:ext>
            </a:extLst>
          </p:cNvPr>
          <p:cNvSpPr txBox="1"/>
          <p:nvPr/>
        </p:nvSpPr>
        <p:spPr>
          <a:xfrm>
            <a:off x="723900" y="1437175"/>
            <a:ext cx="8610600" cy="4613058"/>
          </a:xfrm>
          <a:prstGeom prst="rect">
            <a:avLst/>
          </a:prstGeom>
          <a:noFill/>
        </p:spPr>
        <p:txBody>
          <a:bodyPr wrap="square" rtlCol="0">
            <a:spAutoFit/>
          </a:bodyPr>
          <a:lstStyle/>
          <a:p>
            <a:pPr marL="285750" indent="-285750" algn="l">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today’s transportation industry, managing bus reservations and passenger records is a critical and continuous task.</a:t>
            </a:r>
          </a:p>
          <a:p>
            <a:pPr marL="285750" indent="-285750" algn="l">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l">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Traditional manual booking systems are time-consuming, error-prone, and difficult to handle as the number of passengers and routes increases.</a:t>
            </a:r>
          </a:p>
          <a:p>
            <a:pPr marL="285750" indent="-285750" algn="l">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l">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 automated Bus Ticket Booking System simplifies ticket reservation, cancellation, and passenger data management, thereby improving operational efficiency.</a:t>
            </a:r>
          </a:p>
          <a:p>
            <a:pPr marL="285750" indent="-285750" algn="l">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l">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project focuses on developing a console/GUI-based Java application for effective bus ticket booking and management.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17781" y="332823"/>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762000" y="1322610"/>
            <a:ext cx="8534400" cy="4843890"/>
          </a:xfrm>
          <a:prstGeom prst="rect">
            <a:avLst/>
          </a:prstGeom>
          <a:noFill/>
        </p:spPr>
        <p:txBody>
          <a:bodyPr wrap="square" rtlCol="0">
            <a:spAutoFit/>
          </a:bodyPr>
          <a:lstStyle/>
          <a:p>
            <a:pPr algn="just">
              <a:spcBef>
                <a:spcPts val="1200"/>
              </a:spcBef>
            </a:pPr>
            <a:r>
              <a:rPr lang="en-US" b="1" dirty="0">
                <a:latin typeface="Times New Roman" panose="02020603050405020304" pitchFamily="18" charset="0"/>
                <a:cs typeface="Times New Roman" panose="02020603050405020304" pitchFamily="18" charset="0"/>
              </a:rPr>
              <a:t>Functional Requirements:</a:t>
            </a:r>
          </a:p>
          <a:p>
            <a:pPr algn="just">
              <a:spcBef>
                <a:spcPts val="1200"/>
              </a:spcBef>
            </a:pPr>
            <a:endParaRPr lang="en-US" b="1" dirty="0">
              <a:latin typeface="Times New Roman" panose="02020603050405020304" pitchFamily="18" charset="0"/>
              <a:cs typeface="Times New Roman" panose="02020603050405020304" pitchFamily="18" charset="0"/>
            </a:endParaRPr>
          </a:p>
          <a:p>
            <a:pPr marL="285750" lvl="2" indent="-285750" algn="l">
              <a:lnSpc>
                <a:spcPct val="150000"/>
              </a:lnSpc>
              <a:spcBef>
                <a:spcPts val="120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allows users to book bus tickets by entering passenger details such as passenger ID, name and travel details (source, destination, date).</a:t>
            </a:r>
          </a:p>
          <a:p>
            <a:pPr marL="285750" lvl="2" indent="-285750" algn="l">
              <a:lnSpc>
                <a:spcPct val="150000"/>
              </a:lnSpc>
              <a:spcBef>
                <a:spcPts val="1200"/>
              </a:spcBef>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lvl="2" indent="-285750" algn="l">
              <a:lnSpc>
                <a:spcPct val="150000"/>
              </a:lnSpc>
              <a:spcBef>
                <a:spcPts val="120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provides functionality to update or modify booking details whenever required.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Authorized users can cancel ticket bookings with proper confirmation.</a:t>
            </a:r>
          </a:p>
          <a:p>
            <a:pPr marL="285750" lvl="2" indent="-285750" algn="l">
              <a:lnSpc>
                <a:spcPct val="150000"/>
              </a:lnSpc>
              <a:spcBef>
                <a:spcPts val="1200"/>
              </a:spcBef>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lvl="2" indent="-285750" algn="l">
              <a:lnSpc>
                <a:spcPct val="150000"/>
              </a:lnSpc>
              <a:spcBef>
                <a:spcPts val="120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supports searching bookings using Ticket ID or Passenger Name for quick access..</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810000" y="342558"/>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987471" y="1053128"/>
            <a:ext cx="8305800" cy="6633354"/>
          </a:xfrm>
          <a:prstGeom prst="rect">
            <a:avLst/>
          </a:prstGeom>
          <a:noFill/>
        </p:spPr>
        <p:txBody>
          <a:bodyPr wrap="square" rtlCol="0">
            <a:spAutoFit/>
          </a:bodyPr>
          <a:lstStyle/>
          <a:p>
            <a:pPr>
              <a:lnSpc>
                <a:spcPct val="150000"/>
              </a:lnSpc>
            </a:pPr>
            <a:r>
              <a:rPr lang="en-IN" sz="2200" b="1" dirty="0">
                <a:latin typeface="Times New Roman" panose="02020603050405020304" pitchFamily="18" charset="0"/>
                <a:cs typeface="Times New Roman" panose="02020603050405020304" pitchFamily="18" charset="0"/>
              </a:rPr>
              <a:t>Hardware Requirements</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Processor: Intel i3 or above</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RAM: Minimum 4 GB</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Storage: 20 GB</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Input Devices: Keyboard, Mouse</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Output Device: Monitor</a:t>
            </a:r>
          </a:p>
          <a:p>
            <a:pPr>
              <a:lnSpc>
                <a:spcPct val="150000"/>
              </a:lnSpc>
            </a:pPr>
            <a:endParaRPr lang="en-IN" sz="1100" dirty="0">
              <a:latin typeface="Times New Roman" panose="02020603050405020304" pitchFamily="18" charset="0"/>
              <a:cs typeface="Times New Roman" panose="02020603050405020304" pitchFamily="18" charset="0"/>
            </a:endParaRPr>
          </a:p>
          <a:p>
            <a:pPr>
              <a:lnSpc>
                <a:spcPct val="150000"/>
              </a:lnSpc>
            </a:pPr>
            <a:r>
              <a:rPr lang="en-IN" sz="2200" b="1" dirty="0">
                <a:latin typeface="Times New Roman" panose="02020603050405020304" pitchFamily="18" charset="0"/>
                <a:cs typeface="Times New Roman" panose="02020603050405020304" pitchFamily="18" charset="0"/>
              </a:rPr>
              <a:t>Software Requirements</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Operating System: Windows </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Programming Language: Java (JDK 8 or above)</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IDE: VS Code </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Database: </a:t>
            </a:r>
            <a:r>
              <a:rPr lang="en-IN" sz="2200" dirty="0" err="1">
                <a:latin typeface="Times New Roman" panose="02020603050405020304" pitchFamily="18" charset="0"/>
                <a:cs typeface="Times New Roman" panose="02020603050405020304" pitchFamily="18" charset="0"/>
              </a:rPr>
              <a:t>OracleDB</a:t>
            </a:r>
            <a:endParaRPr lang="en-IN" sz="22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GitHub (for version control)</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272052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3C03A-992A-CEAD-5FB8-686527824E66}"/>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EA7C8F04-95CA-C1E0-BFA2-4BFACD89E6B8}"/>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989C992-155F-6A68-0B08-3B39FFBAA62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D031E1F9-FB82-922E-C796-97077F94E70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8EAA2CC3-9696-811E-B5BE-5C1848177706}"/>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F65D09F8-C17C-F03E-88B8-4942A39F209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65154CDE-FB1D-92DB-77E9-9CDAB77B883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5E89CD20-90CB-480C-A4EB-EC7405BED441}"/>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4CDD3B24-C6E3-C570-0D11-D85BD4A44819}"/>
              </a:ext>
            </a:extLst>
          </p:cNvPr>
          <p:cNvSpPr txBox="1"/>
          <p:nvPr/>
        </p:nvSpPr>
        <p:spPr>
          <a:xfrm>
            <a:off x="1453752" y="1538820"/>
            <a:ext cx="7690248" cy="4524315"/>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uses a relational database to store user and booking information efficiently.</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consists of three main tables: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lvl="4"/>
            <a:r>
              <a:rPr lang="en-US" b="1" dirty="0">
                <a:latin typeface="Times New Roman" panose="02020603050405020304" pitchFamily="18" charset="0"/>
                <a:cs typeface="Times New Roman" panose="02020603050405020304" pitchFamily="18" charset="0"/>
              </a:rPr>
              <a:t>            Users Table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Bus Table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Ticket Table</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design helps in reducing data redundancy and improving data organization.</a:t>
            </a:r>
          </a:p>
          <a:p>
            <a:pPr marL="285750" indent="-285750" algn="l">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booking is linked to a user through a foreign key relationship, and each ticket is generated based on the booking details.</a:t>
            </a:r>
          </a:p>
          <a:p>
            <a:pPr marL="285750" indent="-285750" algn="l">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database ensures data integrity using primary keys and constraints.</a:t>
            </a:r>
          </a:p>
        </p:txBody>
      </p:sp>
    </p:spTree>
    <p:extLst>
      <p:ext uri="{BB962C8B-B14F-4D97-AF65-F5344CB8AC3E}">
        <p14:creationId xmlns:p14="http://schemas.microsoft.com/office/powerpoint/2010/main" val="891828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440B4-B462-F22D-0950-B6710CF9EA51}"/>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4A9BBA5-9A38-1657-0653-14EC0D3B9CE4}"/>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6656BA03-D3A4-CDEA-202C-38C81F635B72}"/>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4C109C39-054A-E81F-70B9-386F94A44C3C}"/>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1533A0EA-DA31-1EB6-ADF3-083AD01A4E8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E8E014C-4F7F-C10B-D153-7578A6AE564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5ECF7B6-4D35-5116-1FBA-A710C58C5A84}"/>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98FBF8DD-4922-6047-5E1A-EAFBB22DFB9B}"/>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36FE3A23-6F7A-9CD3-0012-E9E7C7331AAD}"/>
              </a:ext>
            </a:extLst>
          </p:cNvPr>
          <p:cNvSpPr txBox="1"/>
          <p:nvPr/>
        </p:nvSpPr>
        <p:spPr>
          <a:xfrm>
            <a:off x="1066800" y="1252897"/>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DB0D226A-4905-9A23-644C-CE3991C38936}"/>
              </a:ext>
            </a:extLst>
          </p:cNvPr>
          <p:cNvSpPr txBox="1"/>
          <p:nvPr/>
        </p:nvSpPr>
        <p:spPr>
          <a:xfrm>
            <a:off x="1074718" y="1940870"/>
            <a:ext cx="8366948" cy="646331"/>
          </a:xfrm>
          <a:prstGeom prst="rect">
            <a:avLst/>
          </a:prstGeom>
          <a:noFill/>
        </p:spPr>
        <p:txBody>
          <a:bodyPr wrap="square">
            <a:spAutoFit/>
          </a:bodyPr>
          <a:lstStyle/>
          <a:p>
            <a:r>
              <a:rPr lang="en-IN" b="1" dirty="0"/>
              <a:t>Users Table :</a:t>
            </a:r>
          </a:p>
          <a:p>
            <a:r>
              <a:rPr lang="en-US" dirty="0"/>
              <a:t>             Stores users details (</a:t>
            </a:r>
            <a:r>
              <a:rPr lang="en-US" dirty="0" err="1"/>
              <a:t>User_ID</a:t>
            </a:r>
            <a:r>
              <a:rPr lang="en-US" dirty="0"/>
              <a:t>, Username, Password) </a:t>
            </a:r>
            <a:endParaRPr lang="en-IN" b="1" dirty="0"/>
          </a:p>
        </p:txBody>
      </p:sp>
      <p:graphicFrame>
        <p:nvGraphicFramePr>
          <p:cNvPr id="15" name="Table 14">
            <a:extLst>
              <a:ext uri="{FF2B5EF4-FFF2-40B4-BE49-F238E27FC236}">
                <a16:creationId xmlns:a16="http://schemas.microsoft.com/office/drawing/2014/main" id="{7A2EBB8D-ECD5-E1A2-413F-793969B568BB}"/>
              </a:ext>
            </a:extLst>
          </p:cNvPr>
          <p:cNvGraphicFramePr>
            <a:graphicFrameLocks noGrp="1"/>
          </p:cNvGraphicFramePr>
          <p:nvPr>
            <p:extLst>
              <p:ext uri="{D42A27DB-BD31-4B8C-83A1-F6EECF244321}">
                <p14:modId xmlns:p14="http://schemas.microsoft.com/office/powerpoint/2010/main" val="3250057244"/>
              </p:ext>
            </p:extLst>
          </p:nvPr>
        </p:nvGraphicFramePr>
        <p:xfrm>
          <a:off x="1219200" y="3007008"/>
          <a:ext cx="8077984" cy="3505200"/>
        </p:xfrm>
        <a:graphic>
          <a:graphicData uri="http://schemas.openxmlformats.org/drawingml/2006/table">
            <a:tbl>
              <a:tblPr firstRow="1" bandRow="1">
                <a:tableStyleId>{5C22544A-7EE6-4342-B048-85BDC9FD1C3A}</a:tableStyleId>
              </a:tblPr>
              <a:tblGrid>
                <a:gridCol w="2019496">
                  <a:extLst>
                    <a:ext uri="{9D8B030D-6E8A-4147-A177-3AD203B41FA5}">
                      <a16:colId xmlns:a16="http://schemas.microsoft.com/office/drawing/2014/main" val="2565518768"/>
                    </a:ext>
                  </a:extLst>
                </a:gridCol>
                <a:gridCol w="2019496">
                  <a:extLst>
                    <a:ext uri="{9D8B030D-6E8A-4147-A177-3AD203B41FA5}">
                      <a16:colId xmlns:a16="http://schemas.microsoft.com/office/drawing/2014/main" val="1063026024"/>
                    </a:ext>
                  </a:extLst>
                </a:gridCol>
                <a:gridCol w="2019496">
                  <a:extLst>
                    <a:ext uri="{9D8B030D-6E8A-4147-A177-3AD203B41FA5}">
                      <a16:colId xmlns:a16="http://schemas.microsoft.com/office/drawing/2014/main" val="2318603987"/>
                    </a:ext>
                  </a:extLst>
                </a:gridCol>
                <a:gridCol w="2019496">
                  <a:extLst>
                    <a:ext uri="{9D8B030D-6E8A-4147-A177-3AD203B41FA5}">
                      <a16:colId xmlns:a16="http://schemas.microsoft.com/office/drawing/2014/main" val="4086323780"/>
                    </a:ext>
                  </a:extLst>
                </a:gridCol>
              </a:tblGrid>
              <a:tr h="642914">
                <a:tc>
                  <a:txBody>
                    <a:bodyPr/>
                    <a:lstStyle/>
                    <a:p>
                      <a:pPr>
                        <a:buNone/>
                      </a:pPr>
                      <a:r>
                        <a:rPr lang="en-IN" dirty="0"/>
                        <a:t>Field Name</a:t>
                      </a:r>
                    </a:p>
                  </a:txBody>
                  <a:tcPr anchor="ctr"/>
                </a:tc>
                <a:tc>
                  <a:txBody>
                    <a:bodyPr/>
                    <a:lstStyle/>
                    <a:p>
                      <a:pPr>
                        <a:buNone/>
                      </a:pPr>
                      <a:r>
                        <a:rPr lang="en-IN"/>
                        <a:t>Data Type</a:t>
                      </a:r>
                    </a:p>
                  </a:txBody>
                  <a:tcPr anchor="ctr"/>
                </a:tc>
                <a:tc>
                  <a:txBody>
                    <a:bodyPr/>
                    <a:lstStyle/>
                    <a:p>
                      <a:pPr>
                        <a:buNone/>
                      </a:pPr>
                      <a:r>
                        <a:rPr lang="en-IN" dirty="0"/>
                        <a:t>Constraint</a:t>
                      </a:r>
                    </a:p>
                  </a:txBody>
                  <a:tcPr anchor="ctr"/>
                </a:tc>
                <a:tc>
                  <a:txBody>
                    <a:bodyPr/>
                    <a:lstStyle/>
                    <a:p>
                      <a:pPr>
                        <a:buNone/>
                      </a:pPr>
                      <a:r>
                        <a:rPr lang="en-IN"/>
                        <a:t>Description</a:t>
                      </a:r>
                    </a:p>
                  </a:txBody>
                  <a:tcPr anchor="ctr"/>
                </a:tc>
                <a:extLst>
                  <a:ext uri="{0D108BD9-81ED-4DB2-BD59-A6C34878D82A}">
                    <a16:rowId xmlns:a16="http://schemas.microsoft.com/office/drawing/2014/main" val="777565158"/>
                  </a:ext>
                </a:extLst>
              </a:tr>
              <a:tr h="642914">
                <a:tc>
                  <a:txBody>
                    <a:bodyPr/>
                    <a:lstStyle/>
                    <a:p>
                      <a:pPr>
                        <a:buNone/>
                      </a:pPr>
                      <a:r>
                        <a:rPr lang="en-IN" dirty="0" err="1"/>
                        <a:t>User_id</a:t>
                      </a:r>
                      <a:endParaRPr lang="en-IN" dirty="0"/>
                    </a:p>
                  </a:txBody>
                  <a:tcPr anchor="ctr"/>
                </a:tc>
                <a:tc>
                  <a:txBody>
                    <a:bodyPr/>
                    <a:lstStyle/>
                    <a:p>
                      <a:pPr>
                        <a:buNone/>
                      </a:pPr>
                      <a:r>
                        <a:rPr lang="en-IN" dirty="0"/>
                        <a:t>NUMBER</a:t>
                      </a:r>
                    </a:p>
                  </a:txBody>
                  <a:tcPr anchor="ctr"/>
                </a:tc>
                <a:tc>
                  <a:txBody>
                    <a:bodyPr/>
                    <a:lstStyle/>
                    <a:p>
                      <a:pPr>
                        <a:buNone/>
                      </a:pPr>
                      <a:r>
                        <a:rPr lang="en-IN"/>
                        <a:t>Primary Key</a:t>
                      </a:r>
                    </a:p>
                  </a:txBody>
                  <a:tcPr anchor="ctr"/>
                </a:tc>
                <a:tc>
                  <a:txBody>
                    <a:bodyPr/>
                    <a:lstStyle/>
                    <a:p>
                      <a:pPr>
                        <a:buNone/>
                      </a:pPr>
                      <a:r>
                        <a:rPr lang="en-IN" dirty="0"/>
                        <a:t>User ID</a:t>
                      </a:r>
                    </a:p>
                  </a:txBody>
                  <a:tcPr anchor="ctr"/>
                </a:tc>
                <a:extLst>
                  <a:ext uri="{0D108BD9-81ED-4DB2-BD59-A6C34878D82A}">
                    <a16:rowId xmlns:a16="http://schemas.microsoft.com/office/drawing/2014/main" val="3144488007"/>
                  </a:ext>
                </a:extLst>
              </a:tr>
              <a:tr h="1109686">
                <a:tc>
                  <a:txBody>
                    <a:bodyPr/>
                    <a:lstStyle/>
                    <a:p>
                      <a:pPr>
                        <a:buNone/>
                      </a:pPr>
                      <a:r>
                        <a:rPr lang="en-IN" dirty="0"/>
                        <a:t>Username</a:t>
                      </a:r>
                    </a:p>
                  </a:txBody>
                  <a:tcPr anchor="ctr"/>
                </a:tc>
                <a:tc>
                  <a:txBody>
                    <a:bodyPr/>
                    <a:lstStyle/>
                    <a:p>
                      <a:pPr>
                        <a:buNone/>
                      </a:pPr>
                      <a:r>
                        <a:rPr lang="en-IN" dirty="0"/>
                        <a:t>VARCHAR2(100)</a:t>
                      </a:r>
                    </a:p>
                  </a:txBody>
                  <a:tcPr anchor="ctr"/>
                </a:tc>
                <a:tc>
                  <a:txBody>
                    <a:bodyPr/>
                    <a:lstStyle/>
                    <a:p>
                      <a:pPr>
                        <a:buNone/>
                      </a:pPr>
                      <a:r>
                        <a:rPr lang="en-IN" dirty="0"/>
                        <a:t>NOT NULL</a:t>
                      </a:r>
                    </a:p>
                  </a:txBody>
                  <a:tcPr anchor="ctr"/>
                </a:tc>
                <a:tc>
                  <a:txBody>
                    <a:bodyPr/>
                    <a:lstStyle/>
                    <a:p>
                      <a:pPr>
                        <a:buNone/>
                      </a:pPr>
                      <a:r>
                        <a:rPr lang="en-IN" dirty="0"/>
                        <a:t>User Name</a:t>
                      </a:r>
                    </a:p>
                  </a:txBody>
                  <a:tcPr anchor="ctr"/>
                </a:tc>
                <a:extLst>
                  <a:ext uri="{0D108BD9-81ED-4DB2-BD59-A6C34878D82A}">
                    <a16:rowId xmlns:a16="http://schemas.microsoft.com/office/drawing/2014/main" val="2379907431"/>
                  </a:ext>
                </a:extLst>
              </a:tr>
              <a:tr h="1109686">
                <a:tc>
                  <a:txBody>
                    <a:bodyPr/>
                    <a:lstStyle/>
                    <a:p>
                      <a:pPr>
                        <a:buNone/>
                      </a:pPr>
                      <a:r>
                        <a:rPr lang="en-IN" dirty="0"/>
                        <a:t>Password</a:t>
                      </a:r>
                    </a:p>
                  </a:txBody>
                  <a:tcPr anchor="ctr"/>
                </a:tc>
                <a:tc>
                  <a:txBody>
                    <a:bodyPr/>
                    <a:lstStyle/>
                    <a:p>
                      <a:pPr>
                        <a:buNone/>
                      </a:pPr>
                      <a:r>
                        <a:rPr lang="en-IN"/>
                        <a:t>VARCHAR(200)</a:t>
                      </a:r>
                    </a:p>
                  </a:txBody>
                  <a:tcPr anchor="ctr"/>
                </a:tc>
                <a:tc>
                  <a:txBody>
                    <a:bodyPr/>
                    <a:lstStyle/>
                    <a:p>
                      <a:pPr>
                        <a:buNone/>
                      </a:pPr>
                      <a:r>
                        <a:rPr lang="en-IN" dirty="0"/>
                        <a:t>NOT NULL</a:t>
                      </a:r>
                    </a:p>
                  </a:txBody>
                  <a:tcPr anchor="ctr"/>
                </a:tc>
                <a:tc>
                  <a:txBody>
                    <a:bodyPr/>
                    <a:lstStyle/>
                    <a:p>
                      <a:pPr>
                        <a:buNone/>
                      </a:pPr>
                      <a:r>
                        <a:rPr lang="en-IN" dirty="0"/>
                        <a:t>User password</a:t>
                      </a:r>
                    </a:p>
                  </a:txBody>
                  <a:tcPr anchor="ctr"/>
                </a:tc>
                <a:extLst>
                  <a:ext uri="{0D108BD9-81ED-4DB2-BD59-A6C34878D82A}">
                    <a16:rowId xmlns:a16="http://schemas.microsoft.com/office/drawing/2014/main" val="1832366527"/>
                  </a:ext>
                </a:extLst>
              </a:tr>
            </a:tbl>
          </a:graphicData>
        </a:graphic>
      </p:graphicFrame>
    </p:spTree>
    <p:extLst>
      <p:ext uri="{BB962C8B-B14F-4D97-AF65-F5344CB8AC3E}">
        <p14:creationId xmlns:p14="http://schemas.microsoft.com/office/powerpoint/2010/main" val="2565870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0787-E769-8B37-025D-041FF5E1BF9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3476D6BF-13C6-C6B0-36DF-F1559314FAB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70BE4208-2AED-46E3-654C-0DE2B83F7F41}"/>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8994CB99-6727-2B94-DE57-F503E8F8FB69}"/>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2851F0DB-95C6-22C8-2435-DA8595A2F76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7689328C-CC9D-EEE6-AEF0-27195081DA2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CEAD52A-D6BA-B4AE-C1E4-8A54366273AF}"/>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FAB0F939-F8B0-7014-4713-2E3FA82313DF}"/>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CD205DEE-CF0B-DBC2-E5CD-2C4FB4661C9F}"/>
              </a:ext>
            </a:extLst>
          </p:cNvPr>
          <p:cNvSpPr txBox="1"/>
          <p:nvPr/>
        </p:nvSpPr>
        <p:spPr>
          <a:xfrm>
            <a:off x="1126910" y="1191045"/>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2B7D6DA8-89F8-4CB4-20B5-36719C763BE0}"/>
              </a:ext>
            </a:extLst>
          </p:cNvPr>
          <p:cNvSpPr txBox="1"/>
          <p:nvPr/>
        </p:nvSpPr>
        <p:spPr>
          <a:xfrm>
            <a:off x="1150918" y="1841694"/>
            <a:ext cx="8366948" cy="646331"/>
          </a:xfrm>
          <a:prstGeom prst="rect">
            <a:avLst/>
          </a:prstGeom>
          <a:noFill/>
        </p:spPr>
        <p:txBody>
          <a:bodyPr wrap="square">
            <a:spAutoFit/>
          </a:bodyPr>
          <a:lstStyle/>
          <a:p>
            <a:r>
              <a:rPr lang="en-IN" b="1" dirty="0"/>
              <a:t>Bus Table :</a:t>
            </a:r>
          </a:p>
          <a:p>
            <a:r>
              <a:rPr lang="en-US" dirty="0"/>
              <a:t>	</a:t>
            </a:r>
            <a:r>
              <a:rPr lang="en-IN" dirty="0"/>
              <a:t>Stores Bus Info (</a:t>
            </a:r>
            <a:r>
              <a:rPr lang="en-IN" dirty="0" err="1"/>
              <a:t>Bus_ID,Source,Destination</a:t>
            </a:r>
            <a:r>
              <a:rPr lang="en-IN" dirty="0"/>
              <a:t>, </a:t>
            </a:r>
            <a:r>
              <a:rPr lang="en-IN" dirty="0" err="1"/>
              <a:t>Total_seats</a:t>
            </a:r>
            <a:r>
              <a:rPr lang="en-IN" dirty="0"/>
              <a:t>, etc.)</a:t>
            </a:r>
            <a:endParaRPr lang="en-IN" b="1" dirty="0"/>
          </a:p>
        </p:txBody>
      </p:sp>
      <p:graphicFrame>
        <p:nvGraphicFramePr>
          <p:cNvPr id="15" name="Table 14">
            <a:extLst>
              <a:ext uri="{FF2B5EF4-FFF2-40B4-BE49-F238E27FC236}">
                <a16:creationId xmlns:a16="http://schemas.microsoft.com/office/drawing/2014/main" id="{C4CD2BA1-FBEB-D591-1D32-2516A6652B92}"/>
              </a:ext>
            </a:extLst>
          </p:cNvPr>
          <p:cNvGraphicFramePr>
            <a:graphicFrameLocks noGrp="1"/>
          </p:cNvGraphicFramePr>
          <p:nvPr>
            <p:extLst>
              <p:ext uri="{D42A27DB-BD31-4B8C-83A1-F6EECF244321}">
                <p14:modId xmlns:p14="http://schemas.microsoft.com/office/powerpoint/2010/main" val="2081953987"/>
              </p:ext>
            </p:extLst>
          </p:nvPr>
        </p:nvGraphicFramePr>
        <p:xfrm>
          <a:off x="1295400" y="2848068"/>
          <a:ext cx="8077984" cy="4009932"/>
        </p:xfrm>
        <a:graphic>
          <a:graphicData uri="http://schemas.openxmlformats.org/drawingml/2006/table">
            <a:tbl>
              <a:tblPr firstRow="1" bandRow="1">
                <a:tableStyleId>{5C22544A-7EE6-4342-B048-85BDC9FD1C3A}</a:tableStyleId>
              </a:tblPr>
              <a:tblGrid>
                <a:gridCol w="2019496">
                  <a:extLst>
                    <a:ext uri="{9D8B030D-6E8A-4147-A177-3AD203B41FA5}">
                      <a16:colId xmlns:a16="http://schemas.microsoft.com/office/drawing/2014/main" val="2565518768"/>
                    </a:ext>
                  </a:extLst>
                </a:gridCol>
                <a:gridCol w="2019496">
                  <a:extLst>
                    <a:ext uri="{9D8B030D-6E8A-4147-A177-3AD203B41FA5}">
                      <a16:colId xmlns:a16="http://schemas.microsoft.com/office/drawing/2014/main" val="1063026024"/>
                    </a:ext>
                  </a:extLst>
                </a:gridCol>
                <a:gridCol w="2019496">
                  <a:extLst>
                    <a:ext uri="{9D8B030D-6E8A-4147-A177-3AD203B41FA5}">
                      <a16:colId xmlns:a16="http://schemas.microsoft.com/office/drawing/2014/main" val="2318603987"/>
                    </a:ext>
                  </a:extLst>
                </a:gridCol>
                <a:gridCol w="2019496">
                  <a:extLst>
                    <a:ext uri="{9D8B030D-6E8A-4147-A177-3AD203B41FA5}">
                      <a16:colId xmlns:a16="http://schemas.microsoft.com/office/drawing/2014/main" val="4086323780"/>
                    </a:ext>
                  </a:extLst>
                </a:gridCol>
              </a:tblGrid>
              <a:tr h="642914">
                <a:tc>
                  <a:txBody>
                    <a:bodyPr/>
                    <a:lstStyle/>
                    <a:p>
                      <a:pPr>
                        <a:buNone/>
                      </a:pPr>
                      <a:r>
                        <a:rPr lang="en-IN" dirty="0"/>
                        <a:t>Field Name</a:t>
                      </a:r>
                    </a:p>
                  </a:txBody>
                  <a:tcPr anchor="ctr"/>
                </a:tc>
                <a:tc>
                  <a:txBody>
                    <a:bodyPr/>
                    <a:lstStyle/>
                    <a:p>
                      <a:pPr>
                        <a:buNone/>
                      </a:pPr>
                      <a:r>
                        <a:rPr lang="en-IN"/>
                        <a:t>Data Type</a:t>
                      </a:r>
                    </a:p>
                  </a:txBody>
                  <a:tcPr anchor="ctr"/>
                </a:tc>
                <a:tc>
                  <a:txBody>
                    <a:bodyPr/>
                    <a:lstStyle/>
                    <a:p>
                      <a:pPr>
                        <a:buNone/>
                      </a:pPr>
                      <a:r>
                        <a:rPr lang="en-IN" dirty="0"/>
                        <a:t>Constraint</a:t>
                      </a:r>
                    </a:p>
                  </a:txBody>
                  <a:tcPr anchor="ctr"/>
                </a:tc>
                <a:tc>
                  <a:txBody>
                    <a:bodyPr/>
                    <a:lstStyle/>
                    <a:p>
                      <a:pPr>
                        <a:buNone/>
                      </a:pPr>
                      <a:r>
                        <a:rPr lang="en-IN"/>
                        <a:t>Description</a:t>
                      </a:r>
                    </a:p>
                  </a:txBody>
                  <a:tcPr anchor="ctr"/>
                </a:tc>
                <a:extLst>
                  <a:ext uri="{0D108BD9-81ED-4DB2-BD59-A6C34878D82A}">
                    <a16:rowId xmlns:a16="http://schemas.microsoft.com/office/drawing/2014/main" val="777565158"/>
                  </a:ext>
                </a:extLst>
              </a:tr>
              <a:tr h="642914">
                <a:tc>
                  <a:txBody>
                    <a:bodyPr/>
                    <a:lstStyle/>
                    <a:p>
                      <a:pPr>
                        <a:buNone/>
                      </a:pPr>
                      <a:r>
                        <a:rPr lang="en-IN" dirty="0" err="1"/>
                        <a:t>Bus_id</a:t>
                      </a:r>
                      <a:endParaRPr lang="en-IN" dirty="0"/>
                    </a:p>
                  </a:txBody>
                  <a:tcPr anchor="ctr"/>
                </a:tc>
                <a:tc>
                  <a:txBody>
                    <a:bodyPr/>
                    <a:lstStyle/>
                    <a:p>
                      <a:pPr>
                        <a:buNone/>
                      </a:pPr>
                      <a:r>
                        <a:rPr lang="en-IN" dirty="0"/>
                        <a:t>NUMBER</a:t>
                      </a:r>
                    </a:p>
                  </a:txBody>
                  <a:tcPr anchor="ctr"/>
                </a:tc>
                <a:tc>
                  <a:txBody>
                    <a:bodyPr/>
                    <a:lstStyle/>
                    <a:p>
                      <a:pPr>
                        <a:buNone/>
                      </a:pPr>
                      <a:r>
                        <a:rPr lang="en-IN"/>
                        <a:t>Primary Key</a:t>
                      </a:r>
                    </a:p>
                  </a:txBody>
                  <a:tcPr anchor="ctr"/>
                </a:tc>
                <a:tc>
                  <a:txBody>
                    <a:bodyPr/>
                    <a:lstStyle/>
                    <a:p>
                      <a:pPr>
                        <a:buNone/>
                      </a:pPr>
                      <a:r>
                        <a:rPr lang="en-IN" dirty="0"/>
                        <a:t>BusID</a:t>
                      </a:r>
                    </a:p>
                  </a:txBody>
                  <a:tcPr anchor="ctr"/>
                </a:tc>
                <a:extLst>
                  <a:ext uri="{0D108BD9-81ED-4DB2-BD59-A6C34878D82A}">
                    <a16:rowId xmlns:a16="http://schemas.microsoft.com/office/drawing/2014/main" val="3144488007"/>
                  </a:ext>
                </a:extLst>
              </a:tr>
              <a:tr h="583964">
                <a:tc>
                  <a:txBody>
                    <a:bodyPr/>
                    <a:lstStyle/>
                    <a:p>
                      <a:pPr>
                        <a:buNone/>
                      </a:pPr>
                      <a:r>
                        <a:rPr lang="en-IN" dirty="0"/>
                        <a:t>Source</a:t>
                      </a:r>
                    </a:p>
                  </a:txBody>
                  <a:tcPr anchor="ctr"/>
                </a:tc>
                <a:tc>
                  <a:txBody>
                    <a:bodyPr/>
                    <a:lstStyle/>
                    <a:p>
                      <a:pPr>
                        <a:buNone/>
                      </a:pPr>
                      <a:r>
                        <a:rPr lang="en-IN" dirty="0"/>
                        <a:t>VARCHAR(50)</a:t>
                      </a:r>
                    </a:p>
                  </a:txBody>
                  <a:tcPr anchor="ctr"/>
                </a:tc>
                <a:tc>
                  <a:txBody>
                    <a:bodyPr/>
                    <a:lstStyle/>
                    <a:p>
                      <a:pPr>
                        <a:buNone/>
                      </a:pPr>
                      <a:r>
                        <a:rPr lang="en-IN" dirty="0"/>
                        <a:t>NOT NULL</a:t>
                      </a:r>
                    </a:p>
                  </a:txBody>
                  <a:tcPr anchor="ctr"/>
                </a:tc>
                <a:tc>
                  <a:txBody>
                    <a:bodyPr/>
                    <a:lstStyle/>
                    <a:p>
                      <a:pPr>
                        <a:buNone/>
                      </a:pPr>
                      <a:r>
                        <a:rPr lang="en-IN" dirty="0"/>
                        <a:t>Starting location</a:t>
                      </a:r>
                    </a:p>
                  </a:txBody>
                  <a:tcPr anchor="ctr"/>
                </a:tc>
                <a:extLst>
                  <a:ext uri="{0D108BD9-81ED-4DB2-BD59-A6C34878D82A}">
                    <a16:rowId xmlns:a16="http://schemas.microsoft.com/office/drawing/2014/main" val="2379907431"/>
                  </a:ext>
                </a:extLst>
              </a:tr>
              <a:tr h="609600">
                <a:tc>
                  <a:txBody>
                    <a:bodyPr/>
                    <a:lstStyle/>
                    <a:p>
                      <a:pPr>
                        <a:buNone/>
                      </a:pPr>
                      <a:r>
                        <a:rPr lang="en-IN" dirty="0"/>
                        <a:t>destination</a:t>
                      </a:r>
                    </a:p>
                  </a:txBody>
                  <a:tcPr anchor="ctr"/>
                </a:tc>
                <a:tc>
                  <a:txBody>
                    <a:bodyPr/>
                    <a:lstStyle/>
                    <a:p>
                      <a:pPr>
                        <a:buNone/>
                      </a:pPr>
                      <a:r>
                        <a:rPr lang="en-IN" dirty="0"/>
                        <a:t>VARCHAR(50)</a:t>
                      </a:r>
                    </a:p>
                  </a:txBody>
                  <a:tcPr anchor="ctr"/>
                </a:tc>
                <a:tc>
                  <a:txBody>
                    <a:bodyPr/>
                    <a:lstStyle/>
                    <a:p>
                      <a:pPr>
                        <a:buNone/>
                      </a:pPr>
                      <a:r>
                        <a:rPr lang="en-IN" dirty="0"/>
                        <a:t>NOT NULL</a:t>
                      </a:r>
                    </a:p>
                  </a:txBody>
                  <a:tcPr anchor="ctr"/>
                </a:tc>
                <a:tc>
                  <a:txBody>
                    <a:bodyPr/>
                    <a:lstStyle/>
                    <a:p>
                      <a:pPr>
                        <a:buNone/>
                      </a:pPr>
                      <a:r>
                        <a:rPr lang="en-IN" dirty="0"/>
                        <a:t>Ending location</a:t>
                      </a:r>
                    </a:p>
                  </a:txBody>
                  <a:tcPr anchor="ctr"/>
                </a:tc>
                <a:extLst>
                  <a:ext uri="{0D108BD9-81ED-4DB2-BD59-A6C34878D82A}">
                    <a16:rowId xmlns:a16="http://schemas.microsoft.com/office/drawing/2014/main" val="1832366527"/>
                  </a:ext>
                </a:extLst>
              </a:tr>
              <a:tr h="457200">
                <a:tc>
                  <a:txBody>
                    <a:bodyPr/>
                    <a:lstStyle/>
                    <a:p>
                      <a:pPr>
                        <a:buNone/>
                      </a:pPr>
                      <a:r>
                        <a:rPr lang="en-IN" dirty="0" err="1"/>
                        <a:t>Total_seats</a:t>
                      </a:r>
                      <a:r>
                        <a:rPr lang="en-IN" dirty="0"/>
                        <a:t> </a:t>
                      </a:r>
                    </a:p>
                  </a:txBody>
                  <a:tcPr anchor="ctr"/>
                </a:tc>
                <a:tc>
                  <a:txBody>
                    <a:bodyPr/>
                    <a:lstStyle/>
                    <a:p>
                      <a:pPr>
                        <a:buNone/>
                      </a:pPr>
                      <a:r>
                        <a:rPr lang="en-IN"/>
                        <a:t>NUMBER </a:t>
                      </a:r>
                      <a:endParaRPr lang="en-IN" dirty="0"/>
                    </a:p>
                  </a:txBody>
                  <a:tcPr anchor="ctr"/>
                </a:tc>
                <a:tc>
                  <a:txBody>
                    <a:bodyPr/>
                    <a:lstStyle/>
                    <a:p>
                      <a:pPr>
                        <a:buNone/>
                      </a:pPr>
                      <a:r>
                        <a:rPr lang="en-IN" dirty="0"/>
                        <a:t>NOT NULL</a:t>
                      </a:r>
                    </a:p>
                  </a:txBody>
                  <a:tcPr anchor="ctr"/>
                </a:tc>
                <a:tc>
                  <a:txBody>
                    <a:bodyPr/>
                    <a:lstStyle/>
                    <a:p>
                      <a:pPr>
                        <a:buNone/>
                      </a:pPr>
                      <a:r>
                        <a:rPr lang="en-IN" dirty="0"/>
                        <a:t>Total </a:t>
                      </a:r>
                      <a:r>
                        <a:rPr lang="en-IN" dirty="0" err="1"/>
                        <a:t>no.of</a:t>
                      </a:r>
                      <a:r>
                        <a:rPr lang="en-IN" dirty="0"/>
                        <a:t> seats</a:t>
                      </a:r>
                    </a:p>
                  </a:txBody>
                  <a:tcPr anchor="ctr"/>
                </a:tc>
                <a:extLst>
                  <a:ext uri="{0D108BD9-81ED-4DB2-BD59-A6C34878D82A}">
                    <a16:rowId xmlns:a16="http://schemas.microsoft.com/office/drawing/2014/main" val="1240300754"/>
                  </a:ext>
                </a:extLst>
              </a:tr>
              <a:tr h="533400">
                <a:tc>
                  <a:txBody>
                    <a:bodyPr/>
                    <a:lstStyle/>
                    <a:p>
                      <a:pPr>
                        <a:buNone/>
                      </a:pPr>
                      <a:r>
                        <a:rPr lang="en-IN" dirty="0" err="1"/>
                        <a:t>Seats_available</a:t>
                      </a:r>
                      <a:r>
                        <a:rPr lang="en-IN" dirty="0"/>
                        <a:t> </a:t>
                      </a:r>
                    </a:p>
                  </a:txBody>
                  <a:tcPr anchor="ctr"/>
                </a:tc>
                <a:tc>
                  <a:txBody>
                    <a:bodyPr/>
                    <a:lstStyle/>
                    <a:p>
                      <a:pPr>
                        <a:buNone/>
                      </a:pPr>
                      <a:r>
                        <a:rPr lang="en-IN" dirty="0"/>
                        <a:t>NUMBER </a:t>
                      </a:r>
                    </a:p>
                  </a:txBody>
                  <a:tcPr anchor="ctr"/>
                </a:tc>
                <a:tc>
                  <a:txBody>
                    <a:bodyPr/>
                    <a:lstStyle/>
                    <a:p>
                      <a:pPr>
                        <a:buNone/>
                      </a:pPr>
                      <a:r>
                        <a:rPr lang="en-IN" dirty="0"/>
                        <a:t>NOT NULL</a:t>
                      </a:r>
                    </a:p>
                  </a:txBody>
                  <a:tcPr anchor="ctr"/>
                </a:tc>
                <a:tc>
                  <a:txBody>
                    <a:bodyPr/>
                    <a:lstStyle/>
                    <a:p>
                      <a:pPr>
                        <a:buNone/>
                      </a:pPr>
                      <a:r>
                        <a:rPr lang="en-IN" dirty="0"/>
                        <a:t>Available seats </a:t>
                      </a:r>
                    </a:p>
                  </a:txBody>
                  <a:tcPr anchor="ctr"/>
                </a:tc>
                <a:extLst>
                  <a:ext uri="{0D108BD9-81ED-4DB2-BD59-A6C34878D82A}">
                    <a16:rowId xmlns:a16="http://schemas.microsoft.com/office/drawing/2014/main" val="4267921438"/>
                  </a:ext>
                </a:extLst>
              </a:tr>
              <a:tr h="539940">
                <a:tc>
                  <a:txBody>
                    <a:bodyPr/>
                    <a:lstStyle/>
                    <a:p>
                      <a:pPr>
                        <a:buNone/>
                      </a:pPr>
                      <a:r>
                        <a:rPr lang="en-IN" dirty="0"/>
                        <a:t>price </a:t>
                      </a:r>
                    </a:p>
                  </a:txBody>
                  <a:tcPr anchor="ctr"/>
                </a:tc>
                <a:tc>
                  <a:txBody>
                    <a:bodyPr/>
                    <a:lstStyle/>
                    <a:p>
                      <a:pPr>
                        <a:buNone/>
                      </a:pPr>
                      <a:r>
                        <a:rPr lang="en-IN" dirty="0"/>
                        <a:t>NUMBER </a:t>
                      </a:r>
                    </a:p>
                  </a:txBody>
                  <a:tcPr anchor="ctr"/>
                </a:tc>
                <a:tc>
                  <a:txBody>
                    <a:bodyPr/>
                    <a:lstStyle/>
                    <a:p>
                      <a:pPr>
                        <a:buNone/>
                      </a:pPr>
                      <a:r>
                        <a:rPr lang="en-IN" dirty="0"/>
                        <a:t>CHECK (PRICE &gt;0) </a:t>
                      </a:r>
                    </a:p>
                  </a:txBody>
                  <a:tcPr anchor="ctr"/>
                </a:tc>
                <a:tc>
                  <a:txBody>
                    <a:bodyPr/>
                    <a:lstStyle/>
                    <a:p>
                      <a:pPr>
                        <a:buNone/>
                      </a:pPr>
                      <a:r>
                        <a:rPr lang="en-IN" dirty="0"/>
                        <a:t>Ticket price </a:t>
                      </a:r>
                    </a:p>
                  </a:txBody>
                  <a:tcPr anchor="ctr"/>
                </a:tc>
                <a:extLst>
                  <a:ext uri="{0D108BD9-81ED-4DB2-BD59-A6C34878D82A}">
                    <a16:rowId xmlns:a16="http://schemas.microsoft.com/office/drawing/2014/main" val="3805293707"/>
                  </a:ext>
                </a:extLst>
              </a:tr>
            </a:tbl>
          </a:graphicData>
        </a:graphic>
      </p:graphicFrame>
    </p:spTree>
    <p:extLst>
      <p:ext uri="{BB962C8B-B14F-4D97-AF65-F5344CB8AC3E}">
        <p14:creationId xmlns:p14="http://schemas.microsoft.com/office/powerpoint/2010/main" val="1327093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AF869-60E9-7283-1E5C-031B97BB287B}"/>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22CCC8F-8AC9-DA04-7DF6-792709DB8A6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D3CC7CDE-C0AA-8C40-F47A-6BB38775C793}"/>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251A7B03-12DB-BDB0-A823-3B5CC5C3EA9D}"/>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34C3D95F-A98E-C662-A8CA-7C226092743B}"/>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51ECD6EB-B411-BAC9-D612-83CAADD7C06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5340093-ADC0-C519-A46D-D43188C5189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EC0178A3-A864-AC29-8239-3EE3EEC824D7}"/>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88CC2DB0-515C-5729-13F5-411810B0A1D6}"/>
              </a:ext>
            </a:extLst>
          </p:cNvPr>
          <p:cNvSpPr txBox="1"/>
          <p:nvPr/>
        </p:nvSpPr>
        <p:spPr>
          <a:xfrm>
            <a:off x="990600" y="1268137"/>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BE4EB3E5-F5F4-BFDA-2030-B081D8DD8B72}"/>
              </a:ext>
            </a:extLst>
          </p:cNvPr>
          <p:cNvSpPr txBox="1"/>
          <p:nvPr/>
        </p:nvSpPr>
        <p:spPr>
          <a:xfrm>
            <a:off x="990600" y="1862938"/>
            <a:ext cx="8366948" cy="646331"/>
          </a:xfrm>
          <a:prstGeom prst="rect">
            <a:avLst/>
          </a:prstGeom>
          <a:noFill/>
        </p:spPr>
        <p:txBody>
          <a:bodyPr wrap="square">
            <a:spAutoFit/>
          </a:bodyPr>
          <a:lstStyle/>
          <a:p>
            <a:r>
              <a:rPr lang="en-IN" b="1" dirty="0"/>
              <a:t>Ticket Table :</a:t>
            </a:r>
          </a:p>
          <a:p>
            <a:r>
              <a:rPr lang="en-US" dirty="0"/>
              <a:t>		Stores Ticket details</a:t>
            </a:r>
            <a:endParaRPr lang="en-IN" b="1" dirty="0"/>
          </a:p>
        </p:txBody>
      </p:sp>
      <p:graphicFrame>
        <p:nvGraphicFramePr>
          <p:cNvPr id="3" name="Table 2">
            <a:extLst>
              <a:ext uri="{FF2B5EF4-FFF2-40B4-BE49-F238E27FC236}">
                <a16:creationId xmlns:a16="http://schemas.microsoft.com/office/drawing/2014/main" id="{31F6B0F5-0FDB-2059-BAAA-EC98BE885AE3}"/>
              </a:ext>
            </a:extLst>
          </p:cNvPr>
          <p:cNvGraphicFramePr>
            <a:graphicFrameLocks noGrp="1"/>
          </p:cNvGraphicFramePr>
          <p:nvPr>
            <p:extLst>
              <p:ext uri="{D42A27DB-BD31-4B8C-83A1-F6EECF244321}">
                <p14:modId xmlns:p14="http://schemas.microsoft.com/office/powerpoint/2010/main" val="2948621178"/>
              </p:ext>
            </p:extLst>
          </p:nvPr>
        </p:nvGraphicFramePr>
        <p:xfrm>
          <a:off x="1440742" y="2879663"/>
          <a:ext cx="7924800" cy="4286165"/>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2843935576"/>
                    </a:ext>
                  </a:extLst>
                </a:gridCol>
                <a:gridCol w="1981200">
                  <a:extLst>
                    <a:ext uri="{9D8B030D-6E8A-4147-A177-3AD203B41FA5}">
                      <a16:colId xmlns:a16="http://schemas.microsoft.com/office/drawing/2014/main" val="435965065"/>
                    </a:ext>
                  </a:extLst>
                </a:gridCol>
                <a:gridCol w="1981200">
                  <a:extLst>
                    <a:ext uri="{9D8B030D-6E8A-4147-A177-3AD203B41FA5}">
                      <a16:colId xmlns:a16="http://schemas.microsoft.com/office/drawing/2014/main" val="508337157"/>
                    </a:ext>
                  </a:extLst>
                </a:gridCol>
                <a:gridCol w="1981200">
                  <a:extLst>
                    <a:ext uri="{9D8B030D-6E8A-4147-A177-3AD203B41FA5}">
                      <a16:colId xmlns:a16="http://schemas.microsoft.com/office/drawing/2014/main" val="1121942475"/>
                    </a:ext>
                  </a:extLst>
                </a:gridCol>
              </a:tblGrid>
              <a:tr h="578859">
                <a:tc>
                  <a:txBody>
                    <a:bodyPr/>
                    <a:lstStyle/>
                    <a:p>
                      <a:pPr>
                        <a:buNone/>
                      </a:pPr>
                      <a:r>
                        <a:rPr lang="en-IN" dirty="0"/>
                        <a:t>Field Name</a:t>
                      </a:r>
                    </a:p>
                  </a:txBody>
                  <a:tcPr anchor="ctr"/>
                </a:tc>
                <a:tc>
                  <a:txBody>
                    <a:bodyPr/>
                    <a:lstStyle/>
                    <a:p>
                      <a:pPr>
                        <a:buNone/>
                      </a:pPr>
                      <a:r>
                        <a:rPr lang="en-IN"/>
                        <a:t>Data Type</a:t>
                      </a:r>
                    </a:p>
                  </a:txBody>
                  <a:tcPr anchor="ctr"/>
                </a:tc>
                <a:tc>
                  <a:txBody>
                    <a:bodyPr/>
                    <a:lstStyle/>
                    <a:p>
                      <a:pPr>
                        <a:buNone/>
                      </a:pPr>
                      <a:r>
                        <a:rPr lang="en-IN"/>
                        <a:t>Key</a:t>
                      </a:r>
                    </a:p>
                  </a:txBody>
                  <a:tcPr anchor="ctr"/>
                </a:tc>
                <a:tc>
                  <a:txBody>
                    <a:bodyPr/>
                    <a:lstStyle/>
                    <a:p>
                      <a:pPr>
                        <a:buNone/>
                      </a:pPr>
                      <a:r>
                        <a:rPr lang="en-IN"/>
                        <a:t>Description</a:t>
                      </a:r>
                    </a:p>
                  </a:txBody>
                  <a:tcPr anchor="ctr"/>
                </a:tc>
                <a:extLst>
                  <a:ext uri="{0D108BD9-81ED-4DB2-BD59-A6C34878D82A}">
                    <a16:rowId xmlns:a16="http://schemas.microsoft.com/office/drawing/2014/main" val="1348740825"/>
                  </a:ext>
                </a:extLst>
              </a:tr>
              <a:tr h="578859">
                <a:tc>
                  <a:txBody>
                    <a:bodyPr/>
                    <a:lstStyle/>
                    <a:p>
                      <a:pPr>
                        <a:buNone/>
                      </a:pPr>
                      <a:r>
                        <a:rPr lang="en-IN" dirty="0" err="1"/>
                        <a:t>Ticket_id</a:t>
                      </a:r>
                      <a:r>
                        <a:rPr lang="en-IN" dirty="0"/>
                        <a:t> </a:t>
                      </a:r>
                    </a:p>
                  </a:txBody>
                  <a:tcPr anchor="ctr"/>
                </a:tc>
                <a:tc>
                  <a:txBody>
                    <a:bodyPr/>
                    <a:lstStyle/>
                    <a:p>
                      <a:pPr>
                        <a:buNone/>
                      </a:pPr>
                      <a:r>
                        <a:rPr lang="en-IN" dirty="0"/>
                        <a:t>NUMBER </a:t>
                      </a:r>
                    </a:p>
                  </a:txBody>
                  <a:tcPr anchor="ctr"/>
                </a:tc>
                <a:tc>
                  <a:txBody>
                    <a:bodyPr/>
                    <a:lstStyle/>
                    <a:p>
                      <a:pPr>
                        <a:buNone/>
                      </a:pPr>
                      <a:r>
                        <a:rPr lang="en-IN"/>
                        <a:t>Primary Key</a:t>
                      </a:r>
                    </a:p>
                  </a:txBody>
                  <a:tcPr anchor="ctr"/>
                </a:tc>
                <a:tc>
                  <a:txBody>
                    <a:bodyPr/>
                    <a:lstStyle/>
                    <a:p>
                      <a:pPr>
                        <a:buNone/>
                      </a:pPr>
                      <a:r>
                        <a:rPr lang="en-IN" dirty="0"/>
                        <a:t>Ticket ID</a:t>
                      </a:r>
                    </a:p>
                  </a:txBody>
                  <a:tcPr anchor="ctr"/>
                </a:tc>
                <a:extLst>
                  <a:ext uri="{0D108BD9-81ED-4DB2-BD59-A6C34878D82A}">
                    <a16:rowId xmlns:a16="http://schemas.microsoft.com/office/drawing/2014/main" val="793349371"/>
                  </a:ext>
                </a:extLst>
              </a:tr>
              <a:tr h="578859">
                <a:tc>
                  <a:txBody>
                    <a:bodyPr/>
                    <a:lstStyle/>
                    <a:p>
                      <a:pPr>
                        <a:buNone/>
                      </a:pPr>
                      <a:r>
                        <a:rPr lang="en-IN" dirty="0" err="1"/>
                        <a:t>User_id</a:t>
                      </a:r>
                      <a:r>
                        <a:rPr lang="en-IN" dirty="0"/>
                        <a:t> </a:t>
                      </a:r>
                    </a:p>
                  </a:txBody>
                  <a:tcPr anchor="ctr"/>
                </a:tc>
                <a:tc>
                  <a:txBody>
                    <a:bodyPr/>
                    <a:lstStyle/>
                    <a:p>
                      <a:pPr>
                        <a:buNone/>
                      </a:pPr>
                      <a:r>
                        <a:rPr lang="en-IN"/>
                        <a:t>NUMBER </a:t>
                      </a:r>
                      <a:endParaRPr lang="en-IN" dirty="0"/>
                    </a:p>
                  </a:txBody>
                  <a:tcPr anchor="ctr"/>
                </a:tc>
                <a:tc>
                  <a:txBody>
                    <a:bodyPr/>
                    <a:lstStyle/>
                    <a:p>
                      <a:pPr>
                        <a:buNone/>
                      </a:pPr>
                      <a:r>
                        <a:rPr lang="en-IN" dirty="0"/>
                        <a:t>Foreign key, NOT NULL </a:t>
                      </a:r>
                    </a:p>
                  </a:txBody>
                  <a:tcPr anchor="ctr"/>
                </a:tc>
                <a:tc>
                  <a:txBody>
                    <a:bodyPr/>
                    <a:lstStyle/>
                    <a:p>
                      <a:pPr>
                        <a:buNone/>
                      </a:pPr>
                      <a:r>
                        <a:rPr lang="en-IN" dirty="0"/>
                        <a:t>User ID</a:t>
                      </a:r>
                    </a:p>
                  </a:txBody>
                  <a:tcPr anchor="ctr"/>
                </a:tc>
                <a:extLst>
                  <a:ext uri="{0D108BD9-81ED-4DB2-BD59-A6C34878D82A}">
                    <a16:rowId xmlns:a16="http://schemas.microsoft.com/office/drawing/2014/main" val="1597805091"/>
                  </a:ext>
                </a:extLst>
              </a:tr>
              <a:tr h="570929">
                <a:tc>
                  <a:txBody>
                    <a:bodyPr/>
                    <a:lstStyle/>
                    <a:p>
                      <a:pPr>
                        <a:buNone/>
                      </a:pPr>
                      <a:r>
                        <a:rPr lang="en-IN" dirty="0" err="1"/>
                        <a:t>Bus_id</a:t>
                      </a:r>
                      <a:r>
                        <a:rPr lang="en-IN" dirty="0"/>
                        <a:t> </a:t>
                      </a:r>
                    </a:p>
                  </a:txBody>
                  <a:tcPr anchor="ctr"/>
                </a:tc>
                <a:tc>
                  <a:txBody>
                    <a:bodyPr/>
                    <a:lstStyle/>
                    <a:p>
                      <a:pPr>
                        <a:buNone/>
                      </a:pPr>
                      <a:r>
                        <a:rPr lang="en-IN" dirty="0"/>
                        <a:t>NUMBER </a:t>
                      </a:r>
                    </a:p>
                  </a:txBody>
                  <a:tcPr anchor="ctr"/>
                </a:tc>
                <a:tc>
                  <a:txBody>
                    <a:bodyPr/>
                    <a:lstStyle/>
                    <a:p>
                      <a:pPr>
                        <a:buNone/>
                      </a:pPr>
                      <a:r>
                        <a:rPr lang="en-IN" dirty="0"/>
                        <a:t>Foreign key, NOT NULL </a:t>
                      </a:r>
                    </a:p>
                  </a:txBody>
                  <a:tcPr anchor="ctr"/>
                </a:tc>
                <a:tc>
                  <a:txBody>
                    <a:bodyPr/>
                    <a:lstStyle/>
                    <a:p>
                      <a:pPr>
                        <a:buNone/>
                      </a:pPr>
                      <a:r>
                        <a:rPr lang="en-IN" dirty="0"/>
                        <a:t>Bus ID</a:t>
                      </a:r>
                    </a:p>
                  </a:txBody>
                  <a:tcPr anchor="ctr"/>
                </a:tc>
                <a:extLst>
                  <a:ext uri="{0D108BD9-81ED-4DB2-BD59-A6C34878D82A}">
                    <a16:rowId xmlns:a16="http://schemas.microsoft.com/office/drawing/2014/main" val="915615743"/>
                  </a:ext>
                </a:extLst>
              </a:tr>
              <a:tr h="570929">
                <a:tc>
                  <a:txBody>
                    <a:bodyPr/>
                    <a:lstStyle/>
                    <a:p>
                      <a:pPr>
                        <a:buNone/>
                      </a:pPr>
                      <a:r>
                        <a:rPr lang="en-IN" dirty="0" err="1"/>
                        <a:t>Passenger_id</a:t>
                      </a:r>
                      <a:r>
                        <a:rPr lang="en-IN" dirty="0"/>
                        <a:t> </a:t>
                      </a:r>
                    </a:p>
                  </a:txBody>
                  <a:tcPr anchor="ctr"/>
                </a:tc>
                <a:tc>
                  <a:txBody>
                    <a:bodyPr/>
                    <a:lstStyle/>
                    <a:p>
                      <a:pPr>
                        <a:buNone/>
                      </a:pPr>
                      <a:r>
                        <a:rPr lang="en-IN"/>
                        <a:t>VARCHAR(100)</a:t>
                      </a:r>
                    </a:p>
                  </a:txBody>
                  <a:tcPr anchor="ctr"/>
                </a:tc>
                <a:tc>
                  <a:txBody>
                    <a:bodyPr/>
                    <a:lstStyle/>
                    <a:p>
                      <a:pPr>
                        <a:buNone/>
                      </a:pPr>
                      <a:r>
                        <a:rPr lang="en-IN" dirty="0"/>
                        <a:t>NOT NULL </a:t>
                      </a:r>
                    </a:p>
                  </a:txBody>
                  <a:tcPr anchor="ctr"/>
                </a:tc>
                <a:tc>
                  <a:txBody>
                    <a:bodyPr/>
                    <a:lstStyle/>
                    <a:p>
                      <a:pPr>
                        <a:buNone/>
                      </a:pPr>
                      <a:r>
                        <a:rPr lang="en-IN" dirty="0"/>
                        <a:t>Name of Passenger </a:t>
                      </a:r>
                    </a:p>
                  </a:txBody>
                  <a:tcPr anchor="ctr"/>
                </a:tc>
                <a:extLst>
                  <a:ext uri="{0D108BD9-81ED-4DB2-BD59-A6C34878D82A}">
                    <a16:rowId xmlns:a16="http://schemas.microsoft.com/office/drawing/2014/main" val="2033003038"/>
                  </a:ext>
                </a:extLst>
              </a:tr>
              <a:tr h="698499">
                <a:tc>
                  <a:txBody>
                    <a:bodyPr/>
                    <a:lstStyle/>
                    <a:p>
                      <a:pPr>
                        <a:buNone/>
                      </a:pPr>
                      <a:r>
                        <a:rPr lang="en-IN" dirty="0" err="1"/>
                        <a:t>Seat_number</a:t>
                      </a:r>
                      <a:r>
                        <a:rPr lang="en-IN" dirty="0"/>
                        <a:t> </a:t>
                      </a:r>
                    </a:p>
                  </a:txBody>
                  <a:tcPr anchor="ctr"/>
                </a:tc>
                <a:tc>
                  <a:txBody>
                    <a:bodyPr/>
                    <a:lstStyle/>
                    <a:p>
                      <a:pPr>
                        <a:buNone/>
                      </a:pPr>
                      <a:r>
                        <a:rPr lang="en-IN"/>
                        <a:t>NUMBER </a:t>
                      </a:r>
                      <a:endParaRPr lang="en-IN" dirty="0"/>
                    </a:p>
                  </a:txBody>
                  <a:tcPr anchor="ctr"/>
                </a:tc>
                <a:tc>
                  <a:txBody>
                    <a:bodyPr/>
                    <a:lstStyle/>
                    <a:p>
                      <a:pPr>
                        <a:buNone/>
                      </a:pPr>
                      <a:r>
                        <a:rPr lang="en-IN" dirty="0"/>
                        <a:t>NOT NULL </a:t>
                      </a:r>
                    </a:p>
                  </a:txBody>
                  <a:tcPr anchor="ctr"/>
                </a:tc>
                <a:tc>
                  <a:txBody>
                    <a:bodyPr/>
                    <a:lstStyle/>
                    <a:p>
                      <a:pPr>
                        <a:buNone/>
                      </a:pPr>
                      <a:r>
                        <a:rPr lang="en-IN" dirty="0"/>
                        <a:t>Booked seat passenger </a:t>
                      </a:r>
                    </a:p>
                  </a:txBody>
                  <a:tcPr anchor="ctr"/>
                </a:tc>
                <a:extLst>
                  <a:ext uri="{0D108BD9-81ED-4DB2-BD59-A6C34878D82A}">
                    <a16:rowId xmlns:a16="http://schemas.microsoft.com/office/drawing/2014/main" val="328272867"/>
                  </a:ext>
                </a:extLst>
              </a:tr>
              <a:tr h="578859">
                <a:tc>
                  <a:txBody>
                    <a:bodyPr/>
                    <a:lstStyle/>
                    <a:p>
                      <a:pPr>
                        <a:buNone/>
                      </a:pPr>
                      <a:r>
                        <a:rPr lang="en-IN" dirty="0" err="1"/>
                        <a:t>Travel_date</a:t>
                      </a:r>
                      <a:r>
                        <a:rPr lang="en-IN" dirty="0"/>
                        <a:t> </a:t>
                      </a:r>
                    </a:p>
                  </a:txBody>
                  <a:tcPr anchor="ctr"/>
                </a:tc>
                <a:tc>
                  <a:txBody>
                    <a:bodyPr/>
                    <a:lstStyle/>
                    <a:p>
                      <a:pPr>
                        <a:buNone/>
                      </a:pPr>
                      <a:r>
                        <a:rPr lang="en-IN" dirty="0"/>
                        <a:t>NUMBER </a:t>
                      </a:r>
                    </a:p>
                  </a:txBody>
                  <a:tcPr anchor="ctr"/>
                </a:tc>
                <a:tc>
                  <a:txBody>
                    <a:bodyPr/>
                    <a:lstStyle/>
                    <a:p>
                      <a:pPr>
                        <a:buNone/>
                      </a:pPr>
                      <a:r>
                        <a:rPr lang="en-IN" dirty="0"/>
                        <a:t>NOT NULL </a:t>
                      </a:r>
                    </a:p>
                  </a:txBody>
                  <a:tcPr anchor="ctr"/>
                </a:tc>
                <a:tc>
                  <a:txBody>
                    <a:bodyPr/>
                    <a:lstStyle/>
                    <a:p>
                      <a:pPr>
                        <a:buNone/>
                      </a:pPr>
                      <a:r>
                        <a:rPr lang="en-IN" dirty="0"/>
                        <a:t>Date of travel </a:t>
                      </a:r>
                    </a:p>
                  </a:txBody>
                  <a:tcPr anchor="ctr"/>
                </a:tc>
                <a:extLst>
                  <a:ext uri="{0D108BD9-81ED-4DB2-BD59-A6C34878D82A}">
                    <a16:rowId xmlns:a16="http://schemas.microsoft.com/office/drawing/2014/main" val="1853633334"/>
                  </a:ext>
                </a:extLst>
              </a:tr>
            </a:tbl>
          </a:graphicData>
        </a:graphic>
      </p:graphicFrame>
    </p:spTree>
    <p:extLst>
      <p:ext uri="{BB962C8B-B14F-4D97-AF65-F5344CB8AC3E}">
        <p14:creationId xmlns:p14="http://schemas.microsoft.com/office/powerpoint/2010/main" val="1096694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271227-37A8-BD2E-DA5F-9D1409CD539E}"/>
              </a:ext>
            </a:extLst>
          </p:cNvPr>
          <p:cNvSpPr txBox="1"/>
          <p:nvPr/>
        </p:nvSpPr>
        <p:spPr>
          <a:xfrm>
            <a:off x="872251" y="1037173"/>
            <a:ext cx="7924801" cy="539378"/>
          </a:xfrm>
          <a:prstGeom prst="rect">
            <a:avLst/>
          </a:prstGeom>
          <a:noFill/>
        </p:spPr>
        <p:txBody>
          <a:bodyPr wrap="square" rtlCol="0">
            <a:spAutoFit/>
          </a:bodyPr>
          <a:lstStyle/>
          <a:p>
            <a:pPr algn="just">
              <a:lnSpc>
                <a:spcPct val="150000"/>
              </a:lnSpc>
            </a:pPr>
            <a:r>
              <a:rPr lang="en-IN" sz="2200" b="1" dirty="0">
                <a:latin typeface="Times New Roman" panose="02020603050405020304" pitchFamily="18" charset="0"/>
                <a:cs typeface="Times New Roman" panose="02020603050405020304" pitchFamily="18" charset="0"/>
              </a:rPr>
              <a:t>Modules:</a:t>
            </a:r>
            <a:endParaRPr lang="en-IN" b="1" dirty="0">
              <a:latin typeface="Times New Roman" panose="02020603050405020304" pitchFamily="18" charset="0"/>
              <a:cs typeface="Times New Roman" panose="02020603050405020304" pitchFamily="18" charset="0"/>
            </a:endParaRPr>
          </a:p>
        </p:txBody>
      </p:sp>
      <p:grpSp>
        <p:nvGrpSpPr>
          <p:cNvPr id="5" name="object 3">
            <a:extLst>
              <a:ext uri="{FF2B5EF4-FFF2-40B4-BE49-F238E27FC236}">
                <a16:creationId xmlns:a16="http://schemas.microsoft.com/office/drawing/2014/main" id="{21ABBE52-8710-4E6B-00A1-6AE2E264A905}"/>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3953B3A5-B246-55AD-515B-436ED9F0D042}"/>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DESIGN</a:t>
            </a:r>
          </a:p>
        </p:txBody>
      </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2E698EF3-6CC5-CB2B-B3DF-1F2230442C23}"/>
              </a:ext>
            </a:extLst>
          </p:cNvPr>
          <p:cNvSpPr txBox="1"/>
          <p:nvPr/>
        </p:nvSpPr>
        <p:spPr>
          <a:xfrm>
            <a:off x="1066800" y="1770020"/>
            <a:ext cx="8610599" cy="5355312"/>
          </a:xfrm>
          <a:prstGeom prst="rect">
            <a:avLst/>
          </a:prstGeom>
          <a:noFill/>
        </p:spPr>
        <p:txBody>
          <a:bodyPr wrap="square">
            <a:spAutoFit/>
          </a:bodyPr>
          <a:lstStyle/>
          <a:p>
            <a:pPr marL="342900" indent="-342900" algn="just">
              <a:buAutoNum type="arabicPeriod"/>
            </a:pPr>
            <a:r>
              <a:rPr lang="en-US" b="1" dirty="0">
                <a:latin typeface="Times New Roman" panose="02020603050405020304" pitchFamily="18" charset="0"/>
                <a:cs typeface="Times New Roman" panose="02020603050405020304" pitchFamily="18" charset="0"/>
              </a:rPr>
              <a:t>Bus Management Module</a:t>
            </a:r>
          </a:p>
          <a:p>
            <a:pPr algn="just"/>
            <a:r>
              <a:rPr lang="en-US" dirty="0">
                <a:latin typeface="Times New Roman" panose="02020603050405020304" pitchFamily="18" charset="0"/>
                <a:cs typeface="Times New Roman" panose="02020603050405020304" pitchFamily="18" charset="0"/>
              </a:rPr>
              <a:t> o Updates total seats and schedule</a:t>
            </a:r>
          </a:p>
          <a:p>
            <a:pPr algn="just"/>
            <a:r>
              <a:rPr lang="en-US" dirty="0">
                <a:latin typeface="Times New Roman" panose="02020603050405020304" pitchFamily="18" charset="0"/>
                <a:cs typeface="Times New Roman" panose="02020603050405020304" pitchFamily="18" charset="0"/>
              </a:rPr>
              <a:t> o Stores bus and route details </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2. Booking Module </a:t>
            </a:r>
          </a:p>
          <a:p>
            <a:pPr algn="just"/>
            <a:r>
              <a:rPr lang="en-US" dirty="0">
                <a:latin typeface="Times New Roman" panose="02020603050405020304" pitchFamily="18" charset="0"/>
                <a:cs typeface="Times New Roman" panose="02020603050405020304" pitchFamily="18" charset="0"/>
              </a:rPr>
              <a:t>o Handles ticket reservations via console prompts </a:t>
            </a:r>
          </a:p>
          <a:p>
            <a:pPr algn="just"/>
            <a:r>
              <a:rPr lang="en-US" dirty="0">
                <a:latin typeface="Times New Roman" panose="02020603050405020304" pitchFamily="18" charset="0"/>
                <a:cs typeface="Times New Roman" panose="02020603050405020304" pitchFamily="18" charset="0"/>
              </a:rPr>
              <a:t>o Cancels bookings and updates seat status </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3. Search &amp; Availability Module </a:t>
            </a:r>
          </a:p>
          <a:p>
            <a:pPr algn="just"/>
            <a:r>
              <a:rPr lang="en-US" dirty="0">
                <a:latin typeface="Times New Roman" panose="02020603050405020304" pitchFamily="18" charset="0"/>
                <a:cs typeface="Times New Roman" panose="02020603050405020304" pitchFamily="18" charset="0"/>
              </a:rPr>
              <a:t>o Allows searching buses by route or bus ID </a:t>
            </a:r>
          </a:p>
          <a:p>
            <a:pPr algn="just"/>
            <a:r>
              <a:rPr lang="en-US" dirty="0">
                <a:latin typeface="Times New Roman" panose="02020603050405020304" pitchFamily="18" charset="0"/>
                <a:cs typeface="Times New Roman" panose="02020603050405020304" pitchFamily="18" charset="0"/>
              </a:rPr>
              <a:t>o Displays available seats in real time on console </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4. Database Connectivity Module</a:t>
            </a:r>
          </a:p>
          <a:p>
            <a:pPr algn="just"/>
            <a:r>
              <a:rPr lang="en-US" dirty="0">
                <a:latin typeface="Times New Roman" panose="02020603050405020304" pitchFamily="18" charset="0"/>
                <a:cs typeface="Times New Roman" panose="02020603050405020304" pitchFamily="18" charset="0"/>
              </a:rPr>
              <a:t> o Connects the Java application with Oracle DB using JDBC </a:t>
            </a:r>
          </a:p>
          <a:p>
            <a:pPr algn="just"/>
            <a:r>
              <a:rPr lang="en-US" dirty="0">
                <a:latin typeface="Times New Roman" panose="02020603050405020304" pitchFamily="18" charset="0"/>
                <a:cs typeface="Times New Roman" panose="02020603050405020304" pitchFamily="18" charset="0"/>
              </a:rPr>
              <a:t>o Executes SQL queries for booking, cancellation, and seat updates </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5. Console Interface Module </a:t>
            </a:r>
          </a:p>
          <a:p>
            <a:pPr algn="just"/>
            <a:r>
              <a:rPr lang="en-US" dirty="0">
                <a:latin typeface="Times New Roman" panose="02020603050405020304" pitchFamily="18" charset="0"/>
                <a:cs typeface="Times New Roman" panose="02020603050405020304" pitchFamily="18" charset="0"/>
              </a:rPr>
              <a:t>o Provides menu-driven interface in console</a:t>
            </a:r>
          </a:p>
          <a:p>
            <a:pPr algn="just"/>
            <a:r>
              <a:rPr lang="en-US" dirty="0">
                <a:latin typeface="Times New Roman" panose="02020603050405020304" pitchFamily="18" charset="0"/>
                <a:cs typeface="Times New Roman" panose="02020603050405020304" pitchFamily="18" charset="0"/>
              </a:rPr>
              <a:t> o Handles user interactions like booking, cancelling, and viewing tickets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495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17A6E-C969-4FC6-1638-B02DC9858D8E}"/>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18CD80CE-9A20-C3F9-675C-6A5559C46A59}"/>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4EE6F78B-EB8B-E507-510F-5E3E95B98B6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0BFA710-1140-7847-52D3-8D6778096E5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49D1D7BE-6FAB-E379-94E6-040D6A76585E}"/>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2191A9B2-D3E3-35FE-4108-715E3C7C4C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0A15CDC-61F7-A7B4-E469-6B0C1199925B}"/>
              </a:ext>
            </a:extLst>
          </p:cNvPr>
          <p:cNvSpPr txBox="1">
            <a:spLocks noGrp="1"/>
          </p:cNvSpPr>
          <p:nvPr>
            <p:ph type="title"/>
          </p:nvPr>
        </p:nvSpPr>
        <p:spPr>
          <a:xfrm>
            <a:off x="3945254" y="432593"/>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C71D08-C2F1-0E7E-1D5D-669DEF4FBD1A}"/>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06B09BF8-939E-6C76-4342-E04259FF568B}"/>
              </a:ext>
            </a:extLst>
          </p:cNvPr>
          <p:cNvSpPr txBox="1"/>
          <p:nvPr/>
        </p:nvSpPr>
        <p:spPr>
          <a:xfrm>
            <a:off x="914400" y="1211582"/>
            <a:ext cx="8763000" cy="1767150"/>
          </a:xfrm>
          <a:prstGeom prst="rect">
            <a:avLst/>
          </a:prstGeom>
          <a:noFill/>
        </p:spPr>
        <p:txBody>
          <a:bodyPr wrap="square">
            <a:spAutoFit/>
          </a:bodyPr>
          <a:lstStyle/>
          <a:p>
            <a:pPr>
              <a:lnSpc>
                <a:spcPct val="115000"/>
              </a:lnSpc>
              <a:spcAft>
                <a:spcPts val="800"/>
              </a:spcAft>
              <a:buNone/>
            </a:pPr>
            <a:r>
              <a:rPr lang="en-IN" b="1" dirty="0"/>
              <a:t>User Interface Screen:</a:t>
            </a:r>
          </a:p>
          <a:p>
            <a:pPr>
              <a:lnSpc>
                <a:spcPct val="115000"/>
              </a:lnSpc>
              <a:spcAft>
                <a:spcPts val="800"/>
              </a:spcAft>
              <a:buNone/>
            </a:pPr>
            <a:r>
              <a:rPr lang="en-US" dirty="0"/>
              <a:t>The system provides a simple and user-friendly interface designed using a console-based approach.</a:t>
            </a:r>
            <a:br>
              <a:rPr lang="en-US" dirty="0"/>
            </a:br>
            <a:r>
              <a:rPr lang="en-US" dirty="0"/>
              <a:t>It allows users to interact with the application through text-based menus for booking tickets, viewing details, and managing reservations easily.</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p:txBody>
      </p:sp>
      <p:pic>
        <p:nvPicPr>
          <p:cNvPr id="2" name="Picture 1">
            <a:extLst>
              <a:ext uri="{FF2B5EF4-FFF2-40B4-BE49-F238E27FC236}">
                <a16:creationId xmlns:a16="http://schemas.microsoft.com/office/drawing/2014/main" id="{E020F5E4-DAE5-8372-0FB8-DD634D4850F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4400" y="3147059"/>
            <a:ext cx="8077200" cy="4228499"/>
          </a:xfrm>
          <a:prstGeom prst="rect">
            <a:avLst/>
          </a:prstGeom>
        </p:spPr>
      </p:pic>
    </p:spTree>
    <p:extLst>
      <p:ext uri="{BB962C8B-B14F-4D97-AF65-F5344CB8AC3E}">
        <p14:creationId xmlns:p14="http://schemas.microsoft.com/office/powerpoint/2010/main" val="2514269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882AF-3F85-D02B-B167-92BB06FA78F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51F8D081-5351-6A34-F61D-4BFC9E697C5D}"/>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5B86A6D7-44C7-3F2E-0E87-B0BE38F5E60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0CAD93E-47B3-5F1C-50C3-CCFC6FA0C347}"/>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D61A56A4-0FD7-4B40-8D6B-4C66C95E7C91}"/>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CA7F524B-FE9E-1FF8-1621-5EDB9B2A9EB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CFAF95C4-DE06-BB07-8BE1-1C14ACA3AC98}"/>
              </a:ext>
            </a:extLst>
          </p:cNvPr>
          <p:cNvSpPr txBox="1">
            <a:spLocks noGrp="1"/>
          </p:cNvSpPr>
          <p:nvPr>
            <p:ph type="title"/>
          </p:nvPr>
        </p:nvSpPr>
        <p:spPr>
          <a:xfrm>
            <a:off x="3724479" y="411877"/>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3AD385-1BD8-C19B-6526-BBB862770E82}"/>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B8DE39BD-B38D-F038-C3C2-37F3F226C77D}"/>
              </a:ext>
            </a:extLst>
          </p:cNvPr>
          <p:cNvSpPr txBox="1"/>
          <p:nvPr/>
        </p:nvSpPr>
        <p:spPr>
          <a:xfrm>
            <a:off x="960329" y="1085963"/>
            <a:ext cx="8763000" cy="2031325"/>
          </a:xfrm>
          <a:prstGeom prst="rect">
            <a:avLst/>
          </a:prstGeom>
          <a:noFill/>
        </p:spPr>
        <p:txBody>
          <a:bodyPr wrap="square">
            <a:spAutoFit/>
          </a:bodyPr>
          <a:lstStyle/>
          <a:p>
            <a:r>
              <a:rPr lang="en-IN" b="1" dirty="0"/>
              <a:t>Registration Screen :</a:t>
            </a:r>
            <a:r>
              <a:rPr lang="en-IN" sz="1800" b="1" dirty="0"/>
              <a:t> </a:t>
            </a:r>
          </a:p>
          <a:p>
            <a:r>
              <a:rPr lang="en-US" dirty="0"/>
              <a:t>The registration screen provides a simple console-based interface for new users to create an account by entering basic details such as name, contact, and password.</a:t>
            </a:r>
          </a:p>
          <a:p>
            <a:br>
              <a:rPr lang="en-US" dirty="0"/>
            </a:br>
            <a:r>
              <a:rPr lang="en-US" dirty="0"/>
              <a:t>It ensures user data is securely stored and allows access to the system after successful registration.</a:t>
            </a:r>
          </a:p>
          <a:p>
            <a:endParaRPr lang="en-IN" sz="1800" dirty="0"/>
          </a:p>
        </p:txBody>
      </p:sp>
      <p:pic>
        <p:nvPicPr>
          <p:cNvPr id="4" name="Picture 3">
            <a:extLst>
              <a:ext uri="{FF2B5EF4-FFF2-40B4-BE49-F238E27FC236}">
                <a16:creationId xmlns:a16="http://schemas.microsoft.com/office/drawing/2014/main" id="{C06DBF43-A548-6E9B-BCD1-51195CE9814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27952" y="3236119"/>
            <a:ext cx="8229600" cy="4331970"/>
          </a:xfrm>
          <a:prstGeom prst="rect">
            <a:avLst/>
          </a:prstGeom>
        </p:spPr>
      </p:pic>
    </p:spTree>
    <p:extLst>
      <p:ext uri="{BB962C8B-B14F-4D97-AF65-F5344CB8AC3E}">
        <p14:creationId xmlns:p14="http://schemas.microsoft.com/office/powerpoint/2010/main" val="2972483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A61D0-099F-C774-0062-C8956AD10B14}"/>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C44C1A33-7C14-0DEB-3965-284AF49FCF96}"/>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5AD8913-F996-8CEC-7934-417EC50677A9}"/>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4C01121-5342-6ED4-E848-5F0A26A4F298}"/>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E76C04D3-36A1-A3D8-4753-54D754D0682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DEDA527A-944E-DD9F-9390-C3FE8A62152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1E0144C-CD6A-71E3-CB87-9E558AD5FF4A}"/>
              </a:ext>
            </a:extLst>
          </p:cNvPr>
          <p:cNvSpPr txBox="1">
            <a:spLocks noGrp="1"/>
          </p:cNvSpPr>
          <p:nvPr>
            <p:ph type="title"/>
          </p:nvPr>
        </p:nvSpPr>
        <p:spPr>
          <a:xfrm>
            <a:off x="3724479" y="450118"/>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63F76BCB-14FA-BBEA-1CDB-64C0E4637DB7}"/>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7E08911D-DB8D-864A-A56A-021103D1465A}"/>
              </a:ext>
            </a:extLst>
          </p:cNvPr>
          <p:cNvSpPr txBox="1"/>
          <p:nvPr/>
        </p:nvSpPr>
        <p:spPr>
          <a:xfrm>
            <a:off x="990600" y="1143000"/>
            <a:ext cx="8763000" cy="2031325"/>
          </a:xfrm>
          <a:prstGeom prst="rect">
            <a:avLst/>
          </a:prstGeom>
          <a:noFill/>
        </p:spPr>
        <p:txBody>
          <a:bodyPr wrap="square">
            <a:spAutoFit/>
          </a:bodyPr>
          <a:lstStyle/>
          <a:p>
            <a:r>
              <a:rPr lang="en-IN" sz="1800" b="1" dirty="0"/>
              <a:t>Booking Functionality</a:t>
            </a:r>
            <a:r>
              <a:rPr lang="en-IN" sz="1800" b="1" u="sng" dirty="0"/>
              <a:t>:</a:t>
            </a:r>
            <a:endParaRPr lang="en-IN" sz="1800" dirty="0"/>
          </a:p>
          <a:p>
            <a:r>
              <a:rPr lang="en-IN" sz="1800" b="1" dirty="0"/>
              <a:t> </a:t>
            </a:r>
            <a:endParaRPr lang="en-IN" sz="1800" dirty="0"/>
          </a:p>
          <a:p>
            <a:r>
              <a:rPr lang="en-US" dirty="0"/>
              <a:t>The booking functionality allows users to reserve bus tickets by entering passenger and travel details through a console-based interface.</a:t>
            </a:r>
          </a:p>
          <a:p>
            <a:br>
              <a:rPr lang="en-US" dirty="0"/>
            </a:br>
            <a:r>
              <a:rPr lang="en-US" dirty="0"/>
              <a:t>It generates a unique ticket ID and stores the booking information for easy retrieval and management.</a:t>
            </a:r>
          </a:p>
        </p:txBody>
      </p:sp>
      <p:pic>
        <p:nvPicPr>
          <p:cNvPr id="13" name="Picture 12">
            <a:extLst>
              <a:ext uri="{FF2B5EF4-FFF2-40B4-BE49-F238E27FC236}">
                <a16:creationId xmlns:a16="http://schemas.microsoft.com/office/drawing/2014/main" id="{F544F341-9319-0205-13F3-B83AAF16140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53752" y="3471234"/>
            <a:ext cx="6928248" cy="3615366"/>
          </a:xfrm>
          <a:prstGeom prst="rect">
            <a:avLst/>
          </a:prstGeom>
        </p:spPr>
      </p:pic>
    </p:spTree>
    <p:extLst>
      <p:ext uri="{BB962C8B-B14F-4D97-AF65-F5344CB8AC3E}">
        <p14:creationId xmlns:p14="http://schemas.microsoft.com/office/powerpoint/2010/main" val="359963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B2F1C98-FFE1-CA85-1C70-8E8F15F25574}"/>
              </a:ext>
            </a:extLst>
          </p:cNvPr>
          <p:cNvSpPr>
            <a:spLocks noGrp="1"/>
          </p:cNvSpPr>
          <p:nvPr>
            <p:ph type="body" idx="1"/>
          </p:nvPr>
        </p:nvSpPr>
        <p:spPr>
          <a:xfrm>
            <a:off x="861813" y="937446"/>
            <a:ext cx="8949055" cy="6630643"/>
          </a:xfrm>
        </p:spPr>
        <p:txBody>
          <a:bodyPr/>
          <a:lstStyle/>
          <a:p>
            <a:r>
              <a:rPr lang="en-IN" dirty="0">
                <a:latin typeface="Times New Roman" panose="02020603050405020304" pitchFamily="18" charset="0"/>
                <a:cs typeface="Times New Roman" panose="02020603050405020304" pitchFamily="18" charset="0"/>
              </a:rPr>
              <a:t> Ticket Booing :</a:t>
            </a:r>
          </a:p>
          <a:p>
            <a:r>
              <a:rPr lang="en-US" b="0" dirty="0">
                <a:latin typeface="Times New Roman" panose="02020603050405020304" pitchFamily="18" charset="0"/>
                <a:cs typeface="Times New Roman" panose="02020603050405020304" pitchFamily="18" charset="0"/>
              </a:rPr>
              <a:t>The ticket booking module allows users to book bus tickets by entering passenger details and travel information.</a:t>
            </a:r>
          </a:p>
          <a:p>
            <a:br>
              <a:rPr lang="en-US" b="0" dirty="0">
                <a:latin typeface="Times New Roman" panose="02020603050405020304" pitchFamily="18" charset="0"/>
                <a:cs typeface="Times New Roman" panose="02020603050405020304" pitchFamily="18" charset="0"/>
              </a:rPr>
            </a:br>
            <a:r>
              <a:rPr lang="en-US" b="0" dirty="0">
                <a:latin typeface="Times New Roman" panose="02020603050405020304" pitchFamily="18" charset="0"/>
                <a:cs typeface="Times New Roman" panose="02020603050405020304" pitchFamily="18" charset="0"/>
              </a:rPr>
              <a:t>It generates a unique ticket ID and confirms the booking for future reference.</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4" name="object 3">
            <a:extLst>
              <a:ext uri="{FF2B5EF4-FFF2-40B4-BE49-F238E27FC236}">
                <a16:creationId xmlns:a16="http://schemas.microsoft.com/office/drawing/2014/main" id="{384624FA-5654-AD8D-C0D6-18E2647F1FF2}"/>
              </a:ext>
            </a:extLst>
          </p:cNvPr>
          <p:cNvPicPr/>
          <p:nvPr/>
        </p:nvPicPr>
        <p:blipFill>
          <a:blip r:embed="rId2" cstate="print"/>
          <a:stretch>
            <a:fillRect/>
          </a:stretch>
        </p:blipFill>
        <p:spPr>
          <a:xfrm>
            <a:off x="290750" y="204311"/>
            <a:ext cx="1163002" cy="424338"/>
          </a:xfrm>
          <a:prstGeom prst="rect">
            <a:avLst/>
          </a:prstGeom>
        </p:spPr>
      </p:pic>
      <p:grpSp>
        <p:nvGrpSpPr>
          <p:cNvPr id="5" name="object 3">
            <a:extLst>
              <a:ext uri="{FF2B5EF4-FFF2-40B4-BE49-F238E27FC236}">
                <a16:creationId xmlns:a16="http://schemas.microsoft.com/office/drawing/2014/main" id="{569945C5-7135-3942-113D-6A1EF3CF4D78}"/>
              </a:ext>
            </a:extLst>
          </p:cNvPr>
          <p:cNvGrpSpPr/>
          <p:nvPr/>
        </p:nvGrpSpPr>
        <p:grpSpPr>
          <a:xfrm>
            <a:off x="2477247" y="29493"/>
            <a:ext cx="5103904" cy="1198311"/>
            <a:chOff x="2648188" y="47148"/>
            <a:chExt cx="5103904" cy="1198311"/>
          </a:xfrm>
        </p:grpSpPr>
        <p:pic>
          <p:nvPicPr>
            <p:cNvPr id="6" name="object 4">
              <a:extLst>
                <a:ext uri="{FF2B5EF4-FFF2-40B4-BE49-F238E27FC236}">
                  <a16:creationId xmlns:a16="http://schemas.microsoft.com/office/drawing/2014/main" id="{2E03194D-2587-7A09-2616-84405FA28613}"/>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3737536D-82E2-4B7A-E2FB-58382ABD6B1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A705AC36-5415-6A09-9660-FDC5F615C572}"/>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2C65BFCF-DB4A-FC82-09F8-F9102A43C89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2" name="Title 1">
            <a:extLst>
              <a:ext uri="{FF2B5EF4-FFF2-40B4-BE49-F238E27FC236}">
                <a16:creationId xmlns:a16="http://schemas.microsoft.com/office/drawing/2014/main" id="{AFB2EE85-E2D5-5071-5239-65BD2A1769F1}"/>
              </a:ext>
            </a:extLst>
          </p:cNvPr>
          <p:cNvSpPr>
            <a:spLocks noGrp="1"/>
          </p:cNvSpPr>
          <p:nvPr>
            <p:ph type="title"/>
          </p:nvPr>
        </p:nvSpPr>
        <p:spPr>
          <a:xfrm>
            <a:off x="3352800" y="274705"/>
            <a:ext cx="4876800" cy="353943"/>
          </a:xfrm>
        </p:spPr>
        <p:txBody>
          <a:bodyPr/>
          <a:lstStyle/>
          <a:p>
            <a:r>
              <a:rPr lang="en-IN" dirty="0">
                <a:solidFill>
                  <a:schemeClr val="bg1"/>
                </a:solidFill>
              </a:rPr>
              <a:t>System Implementation</a:t>
            </a:r>
          </a:p>
        </p:txBody>
      </p:sp>
      <p:pic>
        <p:nvPicPr>
          <p:cNvPr id="10" name="Picture 9">
            <a:extLst>
              <a:ext uri="{FF2B5EF4-FFF2-40B4-BE49-F238E27FC236}">
                <a16:creationId xmlns:a16="http://schemas.microsoft.com/office/drawing/2014/main" id="{E96BE1E3-4B73-CEC5-8586-C693CD0237B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0599" y="2941320"/>
            <a:ext cx="8205987" cy="4297680"/>
          </a:xfrm>
          <a:prstGeom prst="rect">
            <a:avLst/>
          </a:prstGeom>
        </p:spPr>
      </p:pic>
    </p:spTree>
    <p:extLst>
      <p:ext uri="{BB962C8B-B14F-4D97-AF65-F5344CB8AC3E}">
        <p14:creationId xmlns:p14="http://schemas.microsoft.com/office/powerpoint/2010/main" val="1998557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4D66C1D-4CA2-F564-D448-82AC49F55BF6}"/>
              </a:ext>
            </a:extLst>
          </p:cNvPr>
          <p:cNvSpPr>
            <a:spLocks noGrp="1"/>
          </p:cNvSpPr>
          <p:nvPr>
            <p:ph type="subTitle" idx="4"/>
          </p:nvPr>
        </p:nvSpPr>
        <p:spPr>
          <a:xfrm>
            <a:off x="1143000" y="1170108"/>
            <a:ext cx="8229600" cy="6533508"/>
          </a:xfrm>
        </p:spPr>
        <p:txBody>
          <a:bodyPr/>
          <a:lstStyle/>
          <a:p>
            <a:r>
              <a:rPr lang="en-IN" sz="1800" dirty="0">
                <a:latin typeface="Times New Roman" panose="02020603050405020304" pitchFamily="18" charset="0"/>
                <a:cs typeface="Times New Roman" panose="02020603050405020304" pitchFamily="18" charset="0"/>
              </a:rPr>
              <a:t>Viewing Tickets :</a:t>
            </a:r>
          </a:p>
          <a:p>
            <a:r>
              <a:rPr lang="en-US" sz="1800" b="0" dirty="0">
                <a:latin typeface="Times New Roman" panose="02020603050405020304" pitchFamily="18" charset="0"/>
                <a:cs typeface="Times New Roman" panose="02020603050405020304" pitchFamily="18" charset="0"/>
              </a:rPr>
              <a:t>The viewing tickets module allows users to view their booked tickets using Ticket ID or passenger details.</a:t>
            </a:r>
            <a:br>
              <a:rPr lang="en-US" sz="1800" b="0" dirty="0">
                <a:latin typeface="Times New Roman" panose="02020603050405020304" pitchFamily="18" charset="0"/>
                <a:cs typeface="Times New Roman" panose="02020603050405020304" pitchFamily="18" charset="0"/>
              </a:rPr>
            </a:br>
            <a:r>
              <a:rPr lang="en-US" sz="1800" b="0" dirty="0">
                <a:latin typeface="Times New Roman" panose="02020603050405020304" pitchFamily="18" charset="0"/>
                <a:cs typeface="Times New Roman" panose="02020603050405020304" pitchFamily="18" charset="0"/>
              </a:rPr>
              <a:t>It displays complete booking information such as journey details, passenger information, and booking status.</a:t>
            </a:r>
            <a:endParaRPr lang="en-IN" sz="1800" b="0" dirty="0">
              <a:latin typeface="Times New Roman" panose="02020603050405020304" pitchFamily="18" charset="0"/>
              <a:cs typeface="Times New Roman" panose="02020603050405020304" pitchFamily="18" charset="0"/>
            </a:endParaRPr>
          </a:p>
          <a:p>
            <a:endParaRPr lang="en-IN" dirty="0"/>
          </a:p>
        </p:txBody>
      </p:sp>
      <p:pic>
        <p:nvPicPr>
          <p:cNvPr id="4" name="object 3">
            <a:extLst>
              <a:ext uri="{FF2B5EF4-FFF2-40B4-BE49-F238E27FC236}">
                <a16:creationId xmlns:a16="http://schemas.microsoft.com/office/drawing/2014/main" id="{3E41BB45-CEB1-286C-ECCE-54995F2181B6}"/>
              </a:ext>
            </a:extLst>
          </p:cNvPr>
          <p:cNvPicPr/>
          <p:nvPr/>
        </p:nvPicPr>
        <p:blipFill>
          <a:blip r:embed="rId2" cstate="print"/>
          <a:stretch>
            <a:fillRect/>
          </a:stretch>
        </p:blipFill>
        <p:spPr>
          <a:xfrm>
            <a:off x="290750" y="204311"/>
            <a:ext cx="1163002" cy="424338"/>
          </a:xfrm>
          <a:prstGeom prst="rect">
            <a:avLst/>
          </a:prstGeom>
        </p:spPr>
      </p:pic>
      <p:grpSp>
        <p:nvGrpSpPr>
          <p:cNvPr id="5" name="object 3">
            <a:extLst>
              <a:ext uri="{FF2B5EF4-FFF2-40B4-BE49-F238E27FC236}">
                <a16:creationId xmlns:a16="http://schemas.microsoft.com/office/drawing/2014/main" id="{6953E6F2-A715-0B4C-75FB-FFA55BC82491}"/>
              </a:ext>
            </a:extLst>
          </p:cNvPr>
          <p:cNvGrpSpPr/>
          <p:nvPr/>
        </p:nvGrpSpPr>
        <p:grpSpPr>
          <a:xfrm>
            <a:off x="2477247" y="29493"/>
            <a:ext cx="5103904" cy="1198311"/>
            <a:chOff x="2648188" y="47148"/>
            <a:chExt cx="5103904" cy="1198311"/>
          </a:xfrm>
        </p:grpSpPr>
        <p:pic>
          <p:nvPicPr>
            <p:cNvPr id="6" name="object 4">
              <a:extLst>
                <a:ext uri="{FF2B5EF4-FFF2-40B4-BE49-F238E27FC236}">
                  <a16:creationId xmlns:a16="http://schemas.microsoft.com/office/drawing/2014/main" id="{C452E0F7-AB2E-6660-9551-139CF5559F61}"/>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EC3B5BF3-AC76-FB15-685E-A44C6F79E51C}"/>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9A120305-FBE8-00FB-AB39-6354B90A071B}"/>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3157F0AA-2F68-6893-B608-2D3CA6FBDC71}"/>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2" name="Title 1">
            <a:extLst>
              <a:ext uri="{FF2B5EF4-FFF2-40B4-BE49-F238E27FC236}">
                <a16:creationId xmlns:a16="http://schemas.microsoft.com/office/drawing/2014/main" id="{2A154BEC-7FE8-FFEC-92CD-030584800C20}"/>
              </a:ext>
            </a:extLst>
          </p:cNvPr>
          <p:cNvSpPr>
            <a:spLocks noGrp="1"/>
          </p:cNvSpPr>
          <p:nvPr>
            <p:ph type="ctrTitle"/>
          </p:nvPr>
        </p:nvSpPr>
        <p:spPr>
          <a:xfrm>
            <a:off x="3255201" y="299629"/>
            <a:ext cx="8549640" cy="276999"/>
          </a:xfrm>
        </p:spPr>
        <p:txBody>
          <a:bodyPr/>
          <a:lstStyle/>
          <a:p>
            <a:r>
              <a:rPr lang="en-IN" sz="1800" dirty="0">
                <a:solidFill>
                  <a:schemeClr val="bg1"/>
                </a:solidFill>
              </a:rPr>
              <a:t>SYSTEM IMPLEMENTATION</a:t>
            </a:r>
          </a:p>
        </p:txBody>
      </p:sp>
      <p:pic>
        <p:nvPicPr>
          <p:cNvPr id="10" name="Picture 9">
            <a:extLst>
              <a:ext uri="{FF2B5EF4-FFF2-40B4-BE49-F238E27FC236}">
                <a16:creationId xmlns:a16="http://schemas.microsoft.com/office/drawing/2014/main" id="{4D9564CC-CFDC-34A8-C1ED-95E44C0CA45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71600" y="3081337"/>
            <a:ext cx="7772400" cy="4005263"/>
          </a:xfrm>
          <a:prstGeom prst="rect">
            <a:avLst/>
          </a:prstGeom>
        </p:spPr>
      </p:pic>
    </p:spTree>
    <p:extLst>
      <p:ext uri="{BB962C8B-B14F-4D97-AF65-F5344CB8AC3E}">
        <p14:creationId xmlns:p14="http://schemas.microsoft.com/office/powerpoint/2010/main" val="1488829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FAADD-4D19-CE1A-A0AE-6EEF35365F0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7B9191B-FE96-8A59-9690-2C061E758CB3}"/>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20D78732-F9B9-1FDA-D8E5-B64B1742716B}"/>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F82D761-8FA6-96D2-9CDC-DFD4213896D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678599C3-BD7C-742E-28E2-F7E1A4CB43D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9F6FA399-08A4-A0BD-F528-C5D21B7052B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8F364F5D-D793-1E9D-BAE2-D5AEB2FAA6EF}"/>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3FA4B9F1-F58E-6088-7BFB-C923676C0FFD}"/>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DFDFF7E8-2D7E-EE44-718C-EFE70C9A2E40}"/>
              </a:ext>
            </a:extLst>
          </p:cNvPr>
          <p:cNvSpPr txBox="1"/>
          <p:nvPr/>
        </p:nvSpPr>
        <p:spPr>
          <a:xfrm>
            <a:off x="990600" y="1449777"/>
            <a:ext cx="8763000" cy="1477328"/>
          </a:xfrm>
          <a:prstGeom prst="rect">
            <a:avLst/>
          </a:prstGeom>
          <a:noFill/>
        </p:spPr>
        <p:txBody>
          <a:bodyPr wrap="square">
            <a:spAutoFit/>
          </a:bodyPr>
          <a:lstStyle/>
          <a:p>
            <a:r>
              <a:rPr lang="en-IN" sz="1800" b="1" dirty="0"/>
              <a:t>Cancelling Tickets : </a:t>
            </a:r>
            <a:endParaRPr lang="en-IN" sz="1800" dirty="0"/>
          </a:p>
          <a:p>
            <a:pPr algn="just"/>
            <a:r>
              <a:rPr lang="en-US" dirty="0"/>
              <a:t>The cancelling tickets module allows users to cancel their booked tickets using the Ticket ID.</a:t>
            </a:r>
            <a:br>
              <a:rPr lang="en-US" dirty="0"/>
            </a:br>
            <a:r>
              <a:rPr lang="en-US" dirty="0"/>
              <a:t>It updates the booking status and removes or modifies the record with proper confirmation.</a:t>
            </a:r>
            <a:endParaRPr lang="en-IN" sz="1800" dirty="0"/>
          </a:p>
        </p:txBody>
      </p:sp>
      <p:pic>
        <p:nvPicPr>
          <p:cNvPr id="4" name="Picture 3">
            <a:extLst>
              <a:ext uri="{FF2B5EF4-FFF2-40B4-BE49-F238E27FC236}">
                <a16:creationId xmlns:a16="http://schemas.microsoft.com/office/drawing/2014/main" id="{266ABF9B-F36E-F630-6CDE-C14A8727F6A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28800" y="3505200"/>
            <a:ext cx="7010400" cy="3429000"/>
          </a:xfrm>
          <a:prstGeom prst="rect">
            <a:avLst/>
          </a:prstGeom>
        </p:spPr>
      </p:pic>
    </p:spTree>
    <p:extLst>
      <p:ext uri="{BB962C8B-B14F-4D97-AF65-F5344CB8AC3E}">
        <p14:creationId xmlns:p14="http://schemas.microsoft.com/office/powerpoint/2010/main" val="40492491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66B15-FBBA-88E4-439B-3760D86B920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E93131E-D2BB-EC5C-2A95-924FDF20D02E}"/>
              </a:ext>
            </a:extLst>
          </p:cNvPr>
          <p:cNvSpPr txBox="1"/>
          <p:nvPr/>
        </p:nvSpPr>
        <p:spPr>
          <a:xfrm>
            <a:off x="324153" y="990527"/>
            <a:ext cx="9448800" cy="6555641"/>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Bus Ticket Booking System</a:t>
            </a:r>
            <a:r>
              <a:rPr lang="en-US" sz="2000" dirty="0">
                <a:latin typeface="Times New Roman" panose="02020603050405020304" pitchFamily="18" charset="0"/>
                <a:cs typeface="Times New Roman" panose="02020603050405020304" pitchFamily="18" charset="0"/>
              </a:rPr>
              <a:t> developed in this project provides basic functionalities for booking and managing tickets. However, the system can be further enhanced by adding advanced features to improve its functionality and usability. Some possible future enhancements include:</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Online Payment Integration:</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Adding support for digital payments such as credit/debit cards, UPI, or wallets for seamless ticket booking. </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Seat Selection &amp; Availability Management: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Allowing passengers to choose specific seats and view real-time seat availability. </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Mobile/Web Application:</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Converting the desktop application into a web or mobile app for remote and convenient access. </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Notifications &amp; Alerts: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Sending SMS or email confirmations, reminders, and travel updates to passengers. </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Route &amp; Schedule Optimization:</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Adding dynamic bus route and schedule management to improve operational efficiency.</a:t>
            </a:r>
          </a:p>
        </p:txBody>
      </p:sp>
      <p:grpSp>
        <p:nvGrpSpPr>
          <p:cNvPr id="7" name="object 3">
            <a:extLst>
              <a:ext uri="{FF2B5EF4-FFF2-40B4-BE49-F238E27FC236}">
                <a16:creationId xmlns:a16="http://schemas.microsoft.com/office/drawing/2014/main" id="{2AA4C980-B3A7-207C-41C1-E5E20AC1774F}"/>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FCE0C84F-6254-D24F-D561-30DE987BE354}"/>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7909B96B-5C39-8043-CA2D-5B828EFA7574}"/>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C5015D36-BC2F-3B81-753E-F473E84B785D}"/>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F2E63626-00F9-C9BD-F925-C51513AE50E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D4D54D4E-EE1A-E311-1FB3-DF54075DFCDF}"/>
              </a:ext>
            </a:extLst>
          </p:cNvPr>
          <p:cNvSpPr txBox="1">
            <a:spLocks noGrp="1"/>
          </p:cNvSpPr>
          <p:nvPr>
            <p:ph type="title"/>
          </p:nvPr>
        </p:nvSpPr>
        <p:spPr>
          <a:xfrm>
            <a:off x="3649027" y="438046"/>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Future Enhancements</a:t>
            </a:r>
          </a:p>
        </p:txBody>
      </p:sp>
      <p:pic>
        <p:nvPicPr>
          <p:cNvPr id="13" name="object 3">
            <a:extLst>
              <a:ext uri="{FF2B5EF4-FFF2-40B4-BE49-F238E27FC236}">
                <a16:creationId xmlns:a16="http://schemas.microsoft.com/office/drawing/2014/main" id="{A2987431-337A-DB3D-5560-70B732DBEDE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1218789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02E41-7E6E-9AB7-4311-D58503EE456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5376381-AD7A-228D-6305-1256490B7F5E}"/>
              </a:ext>
            </a:extLst>
          </p:cNvPr>
          <p:cNvSpPr txBox="1"/>
          <p:nvPr/>
        </p:nvSpPr>
        <p:spPr>
          <a:xfrm>
            <a:off x="304800" y="1034052"/>
            <a:ext cx="9448800" cy="6821804"/>
          </a:xfrm>
          <a:prstGeom prst="rect">
            <a:avLst/>
          </a:prstGeom>
          <a:noFill/>
        </p:spPr>
        <p:txBody>
          <a:bodyPr wrap="square" rtlCol="0">
            <a:spAutoFit/>
          </a:bodyPr>
          <a:lstStyle/>
          <a:p>
            <a:pPr>
              <a:lnSpc>
                <a:spcPct val="150000"/>
              </a:lnSpc>
            </a:pPr>
            <a:r>
              <a:rPr lang="en-IN" sz="2000" dirty="0"/>
              <a:t>The following references were used during the development of the Employee Management System:</a:t>
            </a:r>
          </a:p>
          <a:p>
            <a:pPr marL="714375" lvl="2" indent="-285750">
              <a:lnSpc>
                <a:spcPct val="150000"/>
              </a:lnSpc>
              <a:buFont typeface="Arial" panose="020B0604020202020204" pitchFamily="34" charset="0"/>
              <a:buChar char="•"/>
            </a:pPr>
            <a:r>
              <a:rPr lang="en-IN" b="1" dirty="0"/>
              <a:t>Herbert Schildt</a:t>
            </a:r>
            <a:r>
              <a:rPr lang="en-IN" dirty="0"/>
              <a:t>, </a:t>
            </a:r>
            <a:r>
              <a:rPr lang="en-IN" i="1" dirty="0"/>
              <a:t>Java: The Complete Reference</a:t>
            </a:r>
            <a:r>
              <a:rPr lang="en-IN" dirty="0"/>
              <a:t>, Oracle Press, 11th Edition.</a:t>
            </a:r>
          </a:p>
          <a:p>
            <a:pPr marL="714375" lvl="2" indent="-285750">
              <a:lnSpc>
                <a:spcPct val="150000"/>
              </a:lnSpc>
              <a:buFont typeface="Arial" panose="020B0604020202020204" pitchFamily="34" charset="0"/>
              <a:buChar char="•"/>
            </a:pPr>
            <a:r>
              <a:rPr lang="en-IN" b="1" dirty="0"/>
              <a:t>E. </a:t>
            </a:r>
            <a:r>
              <a:rPr lang="en-IN" b="1" dirty="0" err="1"/>
              <a:t>Balagurusamy</a:t>
            </a:r>
            <a:r>
              <a:rPr lang="en-IN" dirty="0"/>
              <a:t>, </a:t>
            </a:r>
            <a:r>
              <a:rPr lang="en-IN" i="1" dirty="0"/>
              <a:t>Programming with Java</a:t>
            </a:r>
            <a:r>
              <a:rPr lang="en-IN" dirty="0"/>
              <a:t>, McGraw Hill Education.</a:t>
            </a:r>
          </a:p>
          <a:p>
            <a:pPr marL="714375" lvl="2" indent="-285750">
              <a:lnSpc>
                <a:spcPct val="150000"/>
              </a:lnSpc>
              <a:buFont typeface="Arial" panose="020B0604020202020204" pitchFamily="34" charset="0"/>
              <a:buChar char="•"/>
            </a:pPr>
            <a:r>
              <a:rPr lang="en-IN" b="1" dirty="0"/>
              <a:t>Korth, Silberschatz, Sudarshan</a:t>
            </a:r>
            <a:r>
              <a:rPr lang="en-IN" dirty="0"/>
              <a:t>, </a:t>
            </a:r>
            <a:r>
              <a:rPr lang="en-IN" i="1" dirty="0"/>
              <a:t>Database System Concepts</a:t>
            </a:r>
            <a:r>
              <a:rPr lang="en-IN" dirty="0"/>
              <a:t>, McGraw Hill.</a:t>
            </a:r>
          </a:p>
          <a:p>
            <a:pPr marL="714375" lvl="2" indent="-285750">
              <a:lnSpc>
                <a:spcPct val="150000"/>
              </a:lnSpc>
              <a:buFont typeface="Arial" panose="020B0604020202020204" pitchFamily="34" charset="0"/>
              <a:buChar char="•"/>
            </a:pPr>
            <a:r>
              <a:rPr lang="en-IN" b="1" dirty="0"/>
              <a:t>Oracle Documentation</a:t>
            </a:r>
            <a:r>
              <a:rPr lang="en-IN" dirty="0"/>
              <a:t>,</a:t>
            </a:r>
            <a:br>
              <a:rPr lang="en-IN" dirty="0"/>
            </a:br>
            <a:r>
              <a:rPr lang="en-IN" u="sng" dirty="0">
                <a:hlinkClick r:id="rId2"/>
              </a:rPr>
              <a:t>https://docs.oracle.com</a:t>
            </a:r>
            <a:endParaRPr lang="en-IN" dirty="0"/>
          </a:p>
          <a:p>
            <a:pPr marL="714375" lvl="2" indent="-285750">
              <a:lnSpc>
                <a:spcPct val="150000"/>
              </a:lnSpc>
              <a:buFont typeface="Arial" panose="020B0604020202020204" pitchFamily="34" charset="0"/>
              <a:buChar char="•"/>
            </a:pPr>
            <a:r>
              <a:rPr lang="en-IN" b="1" dirty="0"/>
              <a:t>Java Documentation (Oracle)</a:t>
            </a:r>
            <a:r>
              <a:rPr lang="en-IN" dirty="0"/>
              <a:t>,</a:t>
            </a:r>
            <a:br>
              <a:rPr lang="en-IN" dirty="0"/>
            </a:br>
            <a:r>
              <a:rPr lang="en-IN" u="sng" dirty="0">
                <a:hlinkClick r:id="rId3"/>
              </a:rPr>
              <a:t>https://docs.oracle.com/javase</a:t>
            </a:r>
            <a:endParaRPr lang="en-IN" dirty="0"/>
          </a:p>
          <a:p>
            <a:pPr marL="714375" lvl="2" indent="-285750">
              <a:lnSpc>
                <a:spcPct val="150000"/>
              </a:lnSpc>
              <a:buFont typeface="Arial" panose="020B0604020202020204" pitchFamily="34" charset="0"/>
              <a:buChar char="•"/>
            </a:pPr>
            <a:r>
              <a:rPr lang="en-IN" b="1" dirty="0"/>
              <a:t>JDBC Tutorial – </a:t>
            </a:r>
            <a:r>
              <a:rPr lang="en-IN" b="1" dirty="0" err="1"/>
              <a:t>GeeksforGeeks</a:t>
            </a:r>
            <a:r>
              <a:rPr lang="en-IN" dirty="0"/>
              <a:t>,</a:t>
            </a:r>
            <a:br>
              <a:rPr lang="en-IN" dirty="0"/>
            </a:br>
            <a:r>
              <a:rPr lang="en-IN" dirty="0"/>
              <a:t>https://www.geeksforgeeks.org/jdbc/</a:t>
            </a:r>
          </a:p>
          <a:p>
            <a:pPr marL="714375" lvl="2" indent="-285750">
              <a:lnSpc>
                <a:spcPct val="150000"/>
              </a:lnSpc>
              <a:buFont typeface="Arial" panose="020B0604020202020204" pitchFamily="34" charset="0"/>
              <a:buChar char="•"/>
            </a:pPr>
            <a:r>
              <a:rPr lang="en-IN" b="1" dirty="0"/>
              <a:t>Java Swing Tutorial – </a:t>
            </a:r>
            <a:r>
              <a:rPr lang="en-IN" b="1" dirty="0" err="1"/>
              <a:t>TutorialsPoint</a:t>
            </a:r>
            <a:r>
              <a:rPr lang="en-IN" dirty="0"/>
              <a:t>,</a:t>
            </a:r>
            <a:br>
              <a:rPr lang="en-IN" dirty="0"/>
            </a:br>
            <a:r>
              <a:rPr lang="en-IN" dirty="0"/>
              <a:t>https://www.tutorialspoint.com/java_swing</a:t>
            </a:r>
          </a:p>
          <a:p>
            <a:pPr marL="714375" lvl="2" indent="-285750">
              <a:lnSpc>
                <a:spcPct val="150000"/>
              </a:lnSpc>
              <a:buFont typeface="Arial" panose="020B0604020202020204" pitchFamily="34" charset="0"/>
              <a:buChar char="•"/>
            </a:pPr>
            <a:r>
              <a:rPr lang="en-IN" b="1" dirty="0"/>
              <a:t>W3Schools Java Tutorial</a:t>
            </a:r>
            <a:r>
              <a:rPr lang="en-IN" dirty="0"/>
              <a:t>,</a:t>
            </a:r>
            <a:br>
              <a:rPr lang="en-IN" dirty="0"/>
            </a:br>
            <a:r>
              <a:rPr lang="en-IN" u="sng" dirty="0">
                <a:hlinkClick r:id="rId4"/>
              </a:rPr>
              <a:t>https://www.w3schools.com/java/</a:t>
            </a:r>
            <a:endParaRPr lang="en-IN" dirty="0"/>
          </a:p>
          <a:p>
            <a:pPr algn="just">
              <a:lnSpc>
                <a:spcPct val="150000"/>
              </a:lnSpc>
            </a:pPr>
            <a:endParaRPr lang="en-IN" sz="2000" dirty="0"/>
          </a:p>
        </p:txBody>
      </p:sp>
      <p:grpSp>
        <p:nvGrpSpPr>
          <p:cNvPr id="7" name="object 3">
            <a:extLst>
              <a:ext uri="{FF2B5EF4-FFF2-40B4-BE49-F238E27FC236}">
                <a16:creationId xmlns:a16="http://schemas.microsoft.com/office/drawing/2014/main" id="{32D71BC4-812B-11BE-6A6C-1CA5A91B779D}"/>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6897A887-118D-142E-FC3E-D6BE5C1E9795}"/>
                </a:ext>
              </a:extLst>
            </p:cNvPr>
            <p:cNvPicPr/>
            <p:nvPr/>
          </p:nvPicPr>
          <p:blipFill>
            <a:blip r:embed="rId5"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A69A73B6-BAAC-6763-2263-E88C0E65C7C3}"/>
                </a:ext>
              </a:extLst>
            </p:cNvPr>
            <p:cNvPicPr/>
            <p:nvPr/>
          </p:nvPicPr>
          <p:blipFill>
            <a:blip r:embed="rId6"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B12E086F-BA20-7EBA-DFAA-D7884D2F86C0}"/>
                </a:ext>
              </a:extLst>
            </p:cNvPr>
            <p:cNvPicPr/>
            <p:nvPr/>
          </p:nvPicPr>
          <p:blipFill>
            <a:blip r:embed="rId7"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CD22B9F6-01CA-54BB-97B5-0180CEF24C6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E459A9DA-9776-0281-AD94-A452E7257896}"/>
              </a:ext>
            </a:extLst>
          </p:cNvPr>
          <p:cNvSpPr txBox="1">
            <a:spLocks noGrp="1"/>
          </p:cNvSpPr>
          <p:nvPr>
            <p:ph type="title"/>
          </p:nvPr>
        </p:nvSpPr>
        <p:spPr>
          <a:xfrm>
            <a:off x="4194015" y="429568"/>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References</a:t>
            </a:r>
          </a:p>
        </p:txBody>
      </p:sp>
      <p:pic>
        <p:nvPicPr>
          <p:cNvPr id="13" name="object 3">
            <a:extLst>
              <a:ext uri="{FF2B5EF4-FFF2-40B4-BE49-F238E27FC236}">
                <a16:creationId xmlns:a16="http://schemas.microsoft.com/office/drawing/2014/main" id="{6E0266AA-A7A6-E24C-77B4-437EA2766279}"/>
              </a:ext>
            </a:extLst>
          </p:cNvPr>
          <p:cNvPicPr/>
          <p:nvPr/>
        </p:nvPicPr>
        <p:blipFill>
          <a:blip r:embed="rId8"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182020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BB4592-5775-79D7-4F02-0BE4F7025B51}"/>
              </a:ext>
            </a:extLst>
          </p:cNvPr>
          <p:cNvSpPr txBox="1"/>
          <p:nvPr/>
        </p:nvSpPr>
        <p:spPr>
          <a:xfrm>
            <a:off x="381000" y="891972"/>
            <a:ext cx="9448800" cy="6500306"/>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system has been successfully developed to manage bus ticket reservations in an efficient and accurate manner. It replaces traditional manual ticketing processes with a computerized solution, thereby minimizing human errors, saving time, and booking improving overall reliability. The application offers key functionalities such as ticket, reservation cancellation, seat status updates, and real-time seat availability, all implemented through a structured, menu-driven console interface. By utilizing technologies such as Java, JDBC, and Oracle Database, the system ensures robust performance, secure data management, and seamless access to booking information. It effectively prevents issues like double booking while significantly reducing the workload of ticketing staff. Overall, the system enhances operational efficiency and provides a scalable foundation for future improvements. Additional features such as web-based access, automated notifications, and detailed booking reports can be integrated to further extend its capabilities. Thus, the project successfully meets its objectives by delivering a reliable, organized, and efficient bus reservation management solution. </a:t>
            </a:r>
          </a:p>
        </p:txBody>
      </p:sp>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694192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2862</TotalTime>
  <Words>1503</Words>
  <Application>Microsoft Office PowerPoint</Application>
  <PresentationFormat>Custom</PresentationFormat>
  <Paragraphs>237</Paragraphs>
  <Slides>21</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Cambria</vt:lpstr>
      <vt:lpstr>Palatino Linotype</vt:lpstr>
      <vt:lpstr>Times New Roman</vt:lpstr>
      <vt:lpstr>Office Theme</vt:lpstr>
      <vt:lpstr>Java Programming Cornerstone Project Final Review</vt:lpstr>
      <vt:lpstr>PowerPoint Presentation</vt:lpstr>
      <vt:lpstr>ABSTRACT</vt:lpstr>
      <vt:lpstr>PowerPoint Presentation</vt:lpstr>
      <vt:lpstr>PowerPoint Presentation</vt:lpstr>
      <vt:lpstr>PowerPoint Presentation</vt:lpstr>
      <vt:lpstr>Database Design</vt:lpstr>
      <vt:lpstr>Database Design</vt:lpstr>
      <vt:lpstr>Database Design</vt:lpstr>
      <vt:lpstr>Database Design</vt:lpstr>
      <vt:lpstr>SYSTEM DESIGN</vt:lpstr>
      <vt:lpstr>System Implementation</vt:lpstr>
      <vt:lpstr>System Implementation</vt:lpstr>
      <vt:lpstr>System Implementation</vt:lpstr>
      <vt:lpstr>System Implementation</vt:lpstr>
      <vt:lpstr>SYSTEM IMPLEMENTATION</vt:lpstr>
      <vt:lpstr>System Implementation</vt:lpstr>
      <vt:lpstr>Future Enhancements</vt:lpstr>
      <vt:lpstr>References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KARRI KOUSHIK</cp:lastModifiedBy>
  <cp:revision>52</cp:revision>
  <cp:lastPrinted>2025-10-14T18:21:49Z</cp:lastPrinted>
  <dcterms:created xsi:type="dcterms:W3CDTF">2025-10-10T08:28:06Z</dcterms:created>
  <dcterms:modified xsi:type="dcterms:W3CDTF">2026-04-06T18:09:27Z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